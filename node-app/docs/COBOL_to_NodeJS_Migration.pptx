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will walk through the modernization of a legacy COBOL accounting system into a modern Node.js application.</a:t>
            </a:r>
          </a:p>
          <a:p/>
          <a:p>
            <a:r>
              <a:t>This project demonstrates a complete end-to-end migration pipeline, taking a traditional mainframe-style COBOL program and converting it into a cloud-native Node.js application with full test coverage, Docker containerization, and CI/CD.</a:t>
            </a:r>
          </a:p>
          <a:p/>
          <a:p>
            <a:r>
              <a:t>The original system is a simple but representative account management application that handles credits, debits, and balance inquiries. While small in scope, it exercises the key patterns you encounter in real-world COBOL migrations: modular program structure, fixed-point arithmetic, synchronous I/O, and shared state through working storage.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agenda for today. We will start by reviewing the legacy COBOL system to understand what we are working with. Then we will cover the modernization strategy we chose and why.</a:t>
            </a:r>
          </a:p>
          <a:p/>
          <a:p>
            <a:r>
              <a:t>The core of the presentation covers the architecture mapping between COBOL and Node.js, followed by a concrete code conversion example so you can see the before-and-after side by side.</a:t>
            </a:r>
          </a:p>
          <a:p/>
          <a:p>
            <a:r>
              <a:t>We will then discuss our testing strategy, which was critical for validating that the Node.js version behaves identically to the COBOL original. After that, we will review the deployment pipeline and the key technical decisions we made along the way.</a:t>
            </a:r>
          </a:p>
          <a:p/>
          <a:p>
            <a:r>
              <a:t>Finally, we will wrap up with results and next steps for further modernization.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look at the legacy system we are modernizing. The application is written in GnuCOBOL and follows a classic 3-tier modular architecture.</a:t>
            </a:r>
          </a:p>
          <a:p/>
          <a:p>
            <a:r>
              <a:t>The three source files each have a clear responsibility: main.cob handles the terminal menu and user interaction loop, operations.cob contains all the business logic for crediting, debiting, and viewing the balance, and data.cob acts as the data access layer managing the stored balance.</a:t>
            </a:r>
          </a:p>
          <a:p/>
          <a:p>
            <a:r>
              <a:t>A key detail is the data format. COBOL uses PIC 9(6)V99, which is a fixed-point decimal format with six integer digits and two decimal places. This means all arithmetic is done in exact decimal, with no floating-point rounding issues. Preserving this precision in Node.js was one of our main technical challenges.</a:t>
            </a:r>
          </a:p>
          <a:p/>
          <a:p>
            <a:r>
              <a:t>The system starts with an initial balance of $1,000.00 and provides four operations: view balance, credit the account, debit the account with insufficient funds protection, and exit.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modernization strategy was built around five key principles.</a:t>
            </a:r>
          </a:p>
          <a:p/>
          <a:p>
            <a:r>
              <a:t>First, file-for-file migration. Rather than rewriting the entire application from scratch, we mapped each COBOL source file to exactly one Node.js module. This preserves the original separation of concerns and makes it easy to trace how each piece of the COBOL system maps to the new codebase.</a:t>
            </a:r>
          </a:p>
          <a:p/>
          <a:p>
            <a:r>
              <a:t>Second, behavior preservation. The business logic and validation rules in Node.js are identical to the COBOL version. If the COBOL system rejects an overdraft, the Node.js version must reject it with the same message and leave the balance unchanged.</a:t>
            </a:r>
          </a:p>
          <a:p/>
          <a:p>
            <a:r>
              <a:t>Third, test-driven validation. We created a comprehensive test suite based on the existing TESTPLAN.md to verify that every scenario behaves exactly as it did in COBOL. This gives us confidence that the migration is faithful.</a:t>
            </a:r>
          </a:p>
          <a:p/>
          <a:p>
            <a:r>
              <a:t>Fourth, incremental deployment using Docker, so we can roll out gradually from development to staging to production. And fifth, documentation was created alongside the code, not as an afterthought.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shows the detailed mapping between COBOL constructs and their Node.js equivalents.</a:t>
            </a:r>
          </a:p>
          <a:p/>
          <a:p>
            <a:r>
              <a:t>The three source files map one-to-one: main.cob becomes src/main.js, operations.cob becomes src/operations.js, and data.cob becomes src/data.js. Each module retains its original responsibility.</a:t>
            </a:r>
          </a:p>
          <a:p/>
          <a:p>
            <a:r>
              <a:t>For the data format, COBOL's PIC 9(6)V99 fixed-point type is replicated using Math.round(x * 100) / 100 in JavaScript. This ensures we get the same two-decimal precision without floating-point drift. For example, in raw JavaScript, 0.1 + 0.2 equals 0.30000000000000004, but our rounding approach correctly produces 0.30.</a:t>
            </a:r>
          </a:p>
          <a:p/>
          <a:p>
            <a:r>
              <a:t>COBOL's CALL statement, which invokes subprograms by name, maps naturally to Node.js require() for module imports. And COBOL's ACCEPT statement for terminal input is replaced by the readline-sync library, which provides the same synchronous, blocking I/O behavior.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look at a concrete code conversion example. Here we compare the debit operation side by side, COBOL on the left and Node.js on the right.</a:t>
            </a:r>
          </a:p>
          <a:p/>
          <a:p>
            <a:r>
              <a:t>In the COBOL version, the program accepts the debit amount from the terminal, reads the current balance from the data program, checks if there are sufficient funds, and either subtracts the amount and writes the new balance, or displays an insufficient funds message.</a:t>
            </a:r>
          </a:p>
          <a:p/>
          <a:p>
            <a:r>
              <a:t>The Node.js version follows the exact same logic flow. Notice how the function first rounds the input amount to two decimal places using Math.round, reads the balance from the data module, performs the same greater-than-or-equal check, and returns a result object.</a:t>
            </a:r>
          </a:p>
          <a:p/>
          <a:p>
            <a:r>
              <a:t>One key improvement in the Node.js version is that functions return result objects with balance and message properties instead of printing directly to the console. This makes the business logic fully testable without needing to mock console.log. The success flag in the return value makes it easy for callers to check whether the debit was approved or rejected.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was a critical part of this migration. We needed to prove that the Node.js application behaves identically to the COBOL original in every scenario.</a:t>
            </a:r>
          </a:p>
          <a:p/>
          <a:p>
            <a:r>
              <a:t>We built 26 tests across 3 test suites using Jest, achieving 100 percent coverage on the data and operations modules. The test cases were derived directly from the existing TESTPLAN.md document, ensuring traceability back to the original business requirements.</a:t>
            </a:r>
          </a:p>
          <a:p/>
          <a:p>
            <a:r>
              <a:t>The unit tests for the data module verify basic read, write, and reset operations. The operations module tests cover all the core scenarios: viewing the balance, crediting with valid and zero amounts, debiting with valid amounts, handling insufficient funds, and debiting with zero.</a:t>
            </a:r>
          </a:p>
          <a:p/>
          <a:p>
            <a:r>
              <a:t>The integration tests go further by simulating complete user sessions. For example, the full workflow test performs a view, then a credit, then a debit, and verifies the balance at each step. We also test edge cases like draining the account to zero and then recovering with a credit, which validates that state persists correctly across module boundaries.</a:t>
            </a:r>
          </a:p>
          <a:p/>
          <a:p>
            <a:r>
              <a:t>We also verified floating-point precision specifically. Crediting 0.1 + 0.2 must produce exactly 0.30, not 0.30000000000000004.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deployment pipeline has seven stages, all automated through a single deploy script.</a:t>
            </a:r>
          </a:p>
          <a:p/>
          <a:p>
            <a:r>
              <a:t>First, we validate the environment: checking that Node.js 18 or higher is installed, that npm is available, and that Docker is present for staging and production deployments.</a:t>
            </a:r>
          </a:p>
          <a:p/>
          <a:p>
            <a:r>
              <a:t>Then we do a clean install of dependencies with npm ci, which ensures reproducible builds from the lockfile. Next, ESLint runs static analysis to catch code quality issues before any tests run.</a:t>
            </a:r>
          </a:p>
          <a:p/>
          <a:p>
            <a:r>
              <a:t>The test stage runs the full Jest suite with coverage reporting. If any test fails, the pipeline stops immediately so we never deploy broken code.</a:t>
            </a:r>
          </a:p>
          <a:p/>
          <a:p>
            <a:r>
              <a:t>For staging and production, we build a Docker image using a multi-stage Alpine build. The first stage installs production dependencies, and the second stage creates a minimal runtime image with a non-root user for security. The image includes health checks for container orchestration.</a:t>
            </a:r>
          </a:p>
          <a:p/>
          <a:p>
            <a:r>
              <a:t>The push stage sends the image to a container registry like GitHub Container Registry, and finally the deploy stage runs the container with appropriate resource limits and restart policies.</a:t>
            </a:r>
          </a:p>
          <a:p/>
          <a:p>
            <a:r>
              <a:t>The entire pipeline is invoked with a single command: deploy.sh followed by the environment name. In development mode, it skips Docker and runs directly.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walk through the key technical decisions we made and the reasoning behind each one.</a:t>
            </a:r>
          </a:p>
          <a:p/>
          <a:p>
            <a:r>
              <a:t>We chose readline-sync for terminal I/O because it provides synchronous, blocking input, which matches how COBOL's ACCEPT statement works. This keeps the migration faithful to the original. In a future phase, we could swap this for an async API layer using Express.js without changing the business logic.</a:t>
            </a:r>
          </a:p>
          <a:p/>
          <a:p>
            <a:r>
              <a:t>For data storage, we kept an in-memory variable, mirroring COBOL's working-storage section. This is intentional for the migration phase. The data module provides a clean interface with readBalance and writeBalance, so swapping in a real database later is a straightforward change.</a:t>
            </a:r>
          </a:p>
          <a:p/>
          <a:p>
            <a:r>
              <a:t>Math.round for precision was essential. JavaScript uses IEEE 754 floating-point, which can produce tiny rounding errors. Our approach of rounding to two decimal places after every calculation replicates COBOL's fixed-point behavior exactly.</a:t>
            </a:r>
          </a:p>
          <a:p/>
          <a:p>
            <a:r>
              <a:t>Jest was selected for testing because it is the industry standard for Node.js, has excellent coverage reporting, and its test case structure maps naturally to our existing TESTPLAN.md.</a:t>
            </a:r>
          </a:p>
          <a:p/>
          <a:p>
            <a:r>
              <a:t>The Docker multi-stage build produces a minimal Alpine-based image, runs as a non-root user for security, and includes health checks so container orchestrators can monitor the application. The GitHub Actions pipeline tests against both Node 18 and 20 to ensure forward compatibility.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what we achieved: we successfully converted all three COBOL source files into three Node.js modules, maintaining the original modular architecture.</a:t>
            </a:r>
          </a:p>
          <a:p/>
          <a:p>
            <a:r>
              <a:t>We have 26 passing tests covering both unit and integration scenarios, with 100 percent coverage on the business logic modules. The application is fully containerized with Docker and has a complete CI/CD pipeline using GitHub Actions.</a:t>
            </a:r>
          </a:p>
          <a:p/>
          <a:p>
            <a:r>
              <a:t>Looking ahead, there are several natural next steps. Adding a REST API layer with Express.js would make the application accessible over HTTP instead of just the terminal. Replacing the in-memory store with PostgreSQL would add persistence across restarts. Authentication and authorization would be needed for a multi-user environment.</a:t>
            </a:r>
          </a:p>
          <a:p/>
          <a:p>
            <a:r>
              <a:t>Transaction history and audit logging would provide accountability, which is especially important for financial applications. Monitoring and alerting would ensure we know about issues before users do. And finally, performance benchmarking against the original COBOL system would give us concrete data on how the modernized version compares.</a:t>
            </a:r>
          </a:p>
          <a:p/>
          <a:p>
            <a:r>
              <a:t>Thank you for your time. I am happy to answer any questions about the migration process, the technical decisions, or the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65F"/>
        </a:solidFill>
        <a:effectLst/>
      </p:bgPr>
    </p:bg>
    <p:spTree>
      <p:nvGrpSpPr>
        <p:cNvPr id="1" name=""/>
        <p:cNvGrpSpPr/>
        <p:nvPr/>
      </p:nvGrpSpPr>
      <p:grpSpPr/>
      <p:sp>
        <p:nvSpPr>
          <p:cNvPr id="2" name="TextBox 1"/>
          <p:cNvSpPr txBox="1"/>
          <p:nvPr/>
        </p:nvSpPr>
        <p:spPr>
          <a:xfrm>
            <a:off x="914400" y="1828800"/>
            <a:ext cx="7315200" cy="1371600"/>
          </a:xfrm>
          <a:prstGeom prst="rect">
            <a:avLst/>
          </a:prstGeom>
          <a:noFill/>
        </p:spPr>
        <p:txBody>
          <a:bodyPr wrap="square">
            <a:spAutoFit/>
          </a:bodyPr>
          <a:lstStyle/>
          <a:p>
            <a:pPr algn="ctr">
              <a:defRPr sz="4000" b="1">
                <a:solidFill>
                  <a:srgbClr val="FFFFFF"/>
                </a:solidFill>
              </a:defRPr>
            </a:pPr>
            <a:r>
              <a:t>COBOL to Node.js Modernization</a:t>
            </a:r>
          </a:p>
        </p:txBody>
      </p:sp>
      <p:sp>
        <p:nvSpPr>
          <p:cNvPr id="3" name="TextBox 2"/>
          <p:cNvSpPr txBox="1"/>
          <p:nvPr/>
        </p:nvSpPr>
        <p:spPr>
          <a:xfrm>
            <a:off x="914400" y="3200400"/>
            <a:ext cx="7315200" cy="914400"/>
          </a:xfrm>
          <a:prstGeom prst="rect">
            <a:avLst/>
          </a:prstGeom>
          <a:noFill/>
        </p:spPr>
        <p:txBody>
          <a:bodyPr wrap="square">
            <a:spAutoFit/>
          </a:bodyPr>
          <a:lstStyle/>
          <a:p>
            <a:pPr algn="ctr">
              <a:defRPr sz="2000">
                <a:solidFill>
                  <a:srgbClr val="4A90D9"/>
                </a:solidFill>
              </a:defRPr>
            </a:pPr>
            <a:r>
              <a:t>Account Management System - Legacy Modernization Journey</a:t>
            </a:r>
          </a:p>
        </p:txBody>
      </p:sp>
      <p:sp>
        <p:nvSpPr>
          <p:cNvPr id="4" name="TextBox 3"/>
          <p:cNvSpPr txBox="1"/>
          <p:nvPr/>
        </p:nvSpPr>
        <p:spPr>
          <a:xfrm>
            <a:off x="914400" y="5029200"/>
            <a:ext cx="7315200" cy="457200"/>
          </a:xfrm>
          <a:prstGeom prst="rect">
            <a:avLst/>
          </a:prstGeom>
          <a:noFill/>
        </p:spPr>
        <p:txBody>
          <a:bodyPr wrap="none">
            <a:spAutoFit/>
          </a:bodyPr>
          <a:lstStyle/>
          <a:p>
            <a:pPr algn="ctr">
              <a:defRPr sz="1400">
                <a:solidFill>
                  <a:srgbClr val="95A5A6"/>
                </a:solidFill>
              </a:defRPr>
            </a:pPr>
            <a:r>
              <a:t>Modernization Pipeline | From Mainframe to Cloud-Native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1B365F"/>
                </a:solidFill>
              </a:defRPr>
            </a:pPr>
            <a:r>
              <a:t>Agenda</a:t>
            </a:r>
          </a:p>
        </p:txBody>
      </p:sp>
      <p:sp>
        <p:nvSpPr>
          <p:cNvPr id="3" name="TextBox 2"/>
          <p:cNvSpPr txBox="1"/>
          <p:nvPr/>
        </p:nvSpPr>
        <p:spPr>
          <a:xfrm>
            <a:off x="914400" y="1188720"/>
            <a:ext cx="7315200" cy="4572000"/>
          </a:xfrm>
          <a:prstGeom prst="rect">
            <a:avLst/>
          </a:prstGeom>
          <a:noFill/>
        </p:spPr>
        <p:txBody>
          <a:bodyPr wrap="square">
            <a:spAutoFit/>
          </a:bodyPr>
          <a:lstStyle/>
          <a:p>
            <a:pPr>
              <a:spcAft>
                <a:spcPts val="1200"/>
              </a:spcAft>
              <a:defRPr sz="2000">
                <a:solidFill>
                  <a:srgbClr val="2C3E50"/>
                </a:solidFill>
              </a:defRPr>
            </a:pPr>
            <a:r>
              <a:t>1. Legacy System Overview</a:t>
            </a:r>
          </a:p>
          <a:p>
            <a:pPr>
              <a:spcAft>
                <a:spcPts val="1200"/>
              </a:spcAft>
              <a:defRPr sz="2000">
                <a:solidFill>
                  <a:srgbClr val="2C3E50"/>
                </a:solidFill>
              </a:defRPr>
            </a:pPr>
            <a:r>
              <a:t>2. Modernization Strategy</a:t>
            </a:r>
          </a:p>
          <a:p>
            <a:pPr>
              <a:spcAft>
                <a:spcPts val="1200"/>
              </a:spcAft>
              <a:defRPr sz="2000">
                <a:solidFill>
                  <a:srgbClr val="2C3E50"/>
                </a:solidFill>
              </a:defRPr>
            </a:pPr>
            <a:r>
              <a:t>3. Architecture Mapping (COBOL -&gt; Node.js)</a:t>
            </a:r>
          </a:p>
          <a:p>
            <a:pPr>
              <a:spcAft>
                <a:spcPts val="1200"/>
              </a:spcAft>
              <a:defRPr sz="2000">
                <a:solidFill>
                  <a:srgbClr val="2C3E50"/>
                </a:solidFill>
              </a:defRPr>
            </a:pPr>
            <a:r>
              <a:t>4. Code Conversion Details</a:t>
            </a:r>
          </a:p>
          <a:p>
            <a:pPr>
              <a:spcAft>
                <a:spcPts val="1200"/>
              </a:spcAft>
              <a:defRPr sz="2000">
                <a:solidFill>
                  <a:srgbClr val="2C3E50"/>
                </a:solidFill>
              </a:defRPr>
            </a:pPr>
            <a:r>
              <a:t>5. Testing Strategy</a:t>
            </a:r>
          </a:p>
          <a:p>
            <a:pPr>
              <a:spcAft>
                <a:spcPts val="1200"/>
              </a:spcAft>
              <a:defRPr sz="2000">
                <a:solidFill>
                  <a:srgbClr val="2C3E50"/>
                </a:solidFill>
              </a:defRPr>
            </a:pPr>
            <a:r>
              <a:t>6. Deployment Pipeline</a:t>
            </a:r>
          </a:p>
          <a:p>
            <a:pPr>
              <a:spcAft>
                <a:spcPts val="1200"/>
              </a:spcAft>
              <a:defRPr sz="2000">
                <a:solidFill>
                  <a:srgbClr val="2C3E50"/>
                </a:solidFill>
              </a:defRPr>
            </a:pPr>
            <a:r>
              <a:t>7. Key Decisions &amp; Trade-offs</a:t>
            </a:r>
          </a:p>
          <a:p>
            <a:pPr>
              <a:spcAft>
                <a:spcPts val="1200"/>
              </a:spcAft>
              <a:defRPr sz="2000">
                <a:solidFill>
                  <a:srgbClr val="2C3E50"/>
                </a:solidFill>
              </a:defRPr>
            </a:pPr>
            <a:r>
              <a:t>8. Results &amp;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2800" b="1">
                <a:solidFill>
                  <a:srgbClr val="1B365F"/>
                </a:solidFill>
              </a:defRPr>
            </a:pPr>
            <a:r>
              <a:t>Legacy COBOL System Overview</a:t>
            </a:r>
          </a:p>
        </p:txBody>
      </p:sp>
      <p:sp>
        <p:nvSpPr>
          <p:cNvPr id="3" name="TextBox 2"/>
          <p:cNvSpPr txBox="1"/>
          <p:nvPr/>
        </p:nvSpPr>
        <p:spPr>
          <a:xfrm>
            <a:off x="457200" y="1188720"/>
            <a:ext cx="4114800" cy="4572000"/>
          </a:xfrm>
          <a:prstGeom prst="rect">
            <a:avLst/>
          </a:prstGeom>
          <a:noFill/>
        </p:spPr>
        <p:txBody>
          <a:bodyPr wrap="square">
            <a:spAutoFit/>
          </a:bodyPr>
          <a:lstStyle/>
          <a:p>
            <a:pPr>
              <a:spcAft>
                <a:spcPts val="1000"/>
              </a:spcAft>
            </a:pPr>
            <a:r>
              <a:rPr sz="1600" b="1">
                <a:solidFill>
                  <a:srgbClr val="2C3E50"/>
                </a:solidFill>
              </a:rPr>
              <a:t>Language: </a:t>
            </a:r>
            <a:r>
              <a:rPr sz="1600">
                <a:solidFill>
                  <a:srgbClr val="2C3E50"/>
                </a:solidFill>
              </a:rPr>
              <a:t>GnuCOBOL</a:t>
            </a:r>
          </a:p>
          <a:p>
            <a:pPr>
              <a:spcAft>
                <a:spcPts val="1000"/>
              </a:spcAft>
            </a:pPr>
            <a:r>
              <a:rPr sz="1600" b="1">
                <a:solidFill>
                  <a:srgbClr val="2C3E50"/>
                </a:solidFill>
              </a:rPr>
              <a:t>Architecture: </a:t>
            </a:r>
            <a:r>
              <a:rPr sz="1600">
                <a:solidFill>
                  <a:srgbClr val="2C3E50"/>
                </a:solidFill>
              </a:rPr>
              <a:t>3-tier modular</a:t>
            </a:r>
          </a:p>
          <a:p>
            <a:pPr>
              <a:spcAft>
                <a:spcPts val="1000"/>
              </a:spcAft>
            </a:pPr>
            <a:r>
              <a:rPr sz="1600" b="1">
                <a:solidFill>
                  <a:srgbClr val="2C3E50"/>
                </a:solidFill>
              </a:rPr>
              <a:t>Data Format: </a:t>
            </a:r>
            <a:r>
              <a:rPr sz="1600">
                <a:solidFill>
                  <a:srgbClr val="2C3E50"/>
                </a:solidFill>
              </a:rPr>
              <a:t>PIC 9(6)V99 (fixed-point)</a:t>
            </a:r>
          </a:p>
          <a:p>
            <a:pPr>
              <a:spcAft>
                <a:spcPts val="1000"/>
              </a:spcAft>
            </a:pPr>
            <a:r>
              <a:rPr sz="1600" b="1">
                <a:solidFill>
                  <a:srgbClr val="2C3E50"/>
                </a:solidFill>
              </a:rPr>
              <a:t>I/O: </a:t>
            </a:r>
            <a:r>
              <a:rPr sz="1600">
                <a:solidFill>
                  <a:srgbClr val="2C3E50"/>
                </a:solidFill>
              </a:rPr>
              <a:t>Synchronous terminal</a:t>
            </a:r>
          </a:p>
          <a:p>
            <a:pPr>
              <a:spcAft>
                <a:spcPts val="1000"/>
              </a:spcAft>
            </a:pPr>
            <a:r>
              <a:rPr sz="1600" b="1">
                <a:solidFill>
                  <a:srgbClr val="2C3E50"/>
                </a:solidFill>
              </a:rPr>
              <a:t>Initial Balance: </a:t>
            </a:r>
            <a:r>
              <a:rPr sz="1600">
                <a:solidFill>
                  <a:srgbClr val="2C3E50"/>
                </a:solidFill>
              </a:rPr>
              <a:t>$1,000.00</a:t>
            </a:r>
          </a:p>
          <a:p>
            <a:pPr>
              <a:spcAft>
                <a:spcPts val="1000"/>
              </a:spcAft>
            </a:pPr>
            <a:r>
              <a:rPr sz="1600" b="1">
                <a:solidFill>
                  <a:srgbClr val="2C3E50"/>
                </a:solidFill>
              </a:rPr>
              <a:t>Operations: </a:t>
            </a:r>
            <a:r>
              <a:rPr sz="1600">
                <a:solidFill>
                  <a:srgbClr val="2C3E50"/>
                </a:solidFill>
              </a:rPr>
              <a:t>View, Credit, Debit, Exit</a:t>
            </a:r>
          </a:p>
        </p:txBody>
      </p:sp>
      <p:sp>
        <p:nvSpPr>
          <p:cNvPr id="4" name="TextBox 3"/>
          <p:cNvSpPr txBox="1"/>
          <p:nvPr/>
        </p:nvSpPr>
        <p:spPr>
          <a:xfrm>
            <a:off x="4754880" y="1188720"/>
            <a:ext cx="3931920" cy="4572000"/>
          </a:xfrm>
          <a:prstGeom prst="rect">
            <a:avLst/>
          </a:prstGeom>
          <a:noFill/>
        </p:spPr>
        <p:txBody>
          <a:bodyPr wrap="square">
            <a:spAutoFit/>
          </a:bodyPr>
          <a:lstStyle/>
          <a:p>
            <a:pPr>
              <a:spcAft>
                <a:spcPts val="800"/>
              </a:spcAft>
              <a:defRPr sz="1600" b="1">
                <a:solidFill>
                  <a:srgbClr val="1B365F"/>
                </a:solidFill>
              </a:defRPr>
            </a:pPr>
            <a:r>
              <a:t>Source Files:</a:t>
            </a:r>
          </a:p>
          <a:p>
            <a:pPr>
              <a:spcAft>
                <a:spcPts val="600"/>
              </a:spcAft>
              <a:defRPr sz="1400">
                <a:solidFill>
                  <a:srgbClr val="2C3E50"/>
                </a:solidFill>
              </a:defRPr>
            </a:pPr>
            <a:r>
              <a:t>  main.cob - UI &amp; menu loop</a:t>
            </a:r>
          </a:p>
          <a:p>
            <a:pPr>
              <a:spcAft>
                <a:spcPts val="600"/>
              </a:spcAft>
              <a:defRPr sz="1400">
                <a:solidFill>
                  <a:srgbClr val="2C3E50"/>
                </a:solidFill>
              </a:defRPr>
            </a:pPr>
            <a:r>
              <a:t>  operations.cob - Business logic</a:t>
            </a:r>
          </a:p>
          <a:p>
            <a:pPr>
              <a:spcAft>
                <a:spcPts val="600"/>
              </a:spcAft>
              <a:defRPr sz="1400">
                <a:solidFill>
                  <a:srgbClr val="2C3E50"/>
                </a:solidFill>
              </a:defRPr>
            </a:pPr>
            <a:r>
              <a:t>  data.cob - Data persistence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2800" b="1">
                <a:solidFill>
                  <a:srgbClr val="1B365F"/>
                </a:solidFill>
              </a:defRPr>
            </a:pPr>
            <a:r>
              <a:t>Modernization Strategy</a:t>
            </a:r>
          </a:p>
        </p:txBody>
      </p:sp>
      <p:sp>
        <p:nvSpPr>
          <p:cNvPr id="3" name="TextBox 2"/>
          <p:cNvSpPr txBox="1"/>
          <p:nvPr/>
        </p:nvSpPr>
        <p:spPr>
          <a:xfrm>
            <a:off x="457200" y="1188720"/>
            <a:ext cx="8229600" cy="5029200"/>
          </a:xfrm>
          <a:prstGeom prst="rect">
            <a:avLst/>
          </a:prstGeom>
          <a:noFill/>
        </p:spPr>
        <p:txBody>
          <a:bodyPr wrap="square">
            <a:spAutoFit/>
          </a:bodyPr>
          <a:lstStyle/>
          <a:p>
            <a:pPr>
              <a:spcAft>
                <a:spcPts val="1400"/>
              </a:spcAft>
            </a:pPr>
            <a:r>
              <a:rPr sz="1600" b="1">
                <a:solidFill>
                  <a:srgbClr val="4A90D9"/>
                </a:solidFill>
              </a:rPr>
              <a:t>File-for-File Migration: </a:t>
            </a:r>
            <a:r>
              <a:rPr sz="1500">
                <a:solidFill>
                  <a:srgbClr val="2C3E50"/>
                </a:solidFill>
              </a:rPr>
              <a:t>Each COBOL source maps 1:1 to a Node.js module, preserving modular boundaries.</a:t>
            </a:r>
          </a:p>
          <a:p>
            <a:pPr>
              <a:spcAft>
                <a:spcPts val="1400"/>
              </a:spcAft>
            </a:pPr>
            <a:r>
              <a:rPr sz="1600" b="1">
                <a:solidFill>
                  <a:srgbClr val="4A90D9"/>
                </a:solidFill>
              </a:rPr>
              <a:t>Behavior Preservation: </a:t>
            </a:r>
            <a:r>
              <a:rPr sz="1500">
                <a:solidFill>
                  <a:srgbClr val="2C3E50"/>
                </a:solidFill>
              </a:rPr>
              <a:t>Business logic and validation rules remain identical to the COBOL implementation.</a:t>
            </a:r>
          </a:p>
          <a:p>
            <a:pPr>
              <a:spcAft>
                <a:spcPts val="1400"/>
              </a:spcAft>
            </a:pPr>
            <a:r>
              <a:rPr sz="1600" b="1">
                <a:solidFill>
                  <a:srgbClr val="4A90D9"/>
                </a:solidFill>
              </a:rPr>
              <a:t>Test-Driven Validation: </a:t>
            </a:r>
            <a:r>
              <a:rPr sz="1500">
                <a:solidFill>
                  <a:srgbClr val="2C3E50"/>
                </a:solidFill>
              </a:rPr>
              <a:t>Comprehensive tests verify the Node.js app matches COBOL behavior exactly.</a:t>
            </a:r>
          </a:p>
          <a:p>
            <a:pPr>
              <a:spcAft>
                <a:spcPts val="1400"/>
              </a:spcAft>
            </a:pPr>
            <a:r>
              <a:rPr sz="1600" b="1">
                <a:solidFill>
                  <a:srgbClr val="4A90D9"/>
                </a:solidFill>
              </a:rPr>
              <a:t>Incremental Deployment: </a:t>
            </a:r>
            <a:r>
              <a:rPr sz="1500">
                <a:solidFill>
                  <a:srgbClr val="2C3E50"/>
                </a:solidFill>
              </a:rPr>
              <a:t>Docker containerization enables gradual rollout from dev to production.</a:t>
            </a:r>
          </a:p>
          <a:p>
            <a:pPr>
              <a:spcAft>
                <a:spcPts val="1400"/>
              </a:spcAft>
            </a:pPr>
            <a:r>
              <a:rPr sz="1600" b="1">
                <a:solidFill>
                  <a:srgbClr val="4A90D9"/>
                </a:solidFill>
              </a:rPr>
              <a:t>Documentation First: </a:t>
            </a:r>
            <a:r>
              <a:rPr sz="1500">
                <a:solidFill>
                  <a:srgbClr val="2C3E50"/>
                </a:solidFill>
              </a:rPr>
              <a:t>Architecture docs, test plans, and deployment guides created alongside code.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2800" b="1">
                <a:solidFill>
                  <a:srgbClr val="1B365F"/>
                </a:solidFill>
              </a:defRPr>
            </a:pPr>
            <a:r>
              <a:t>Architecture Mapping: COBOL -&gt; Node.js</a:t>
            </a:r>
          </a:p>
        </p:txBody>
      </p:sp>
      <p:sp>
        <p:nvSpPr>
          <p:cNvPr id="3" name="Rectangle 2"/>
          <p:cNvSpPr/>
          <p:nvPr/>
        </p:nvSpPr>
        <p:spPr>
          <a:xfrm>
            <a:off x="457200" y="1371600"/>
            <a:ext cx="2560320" cy="457200"/>
          </a:xfrm>
          <a:prstGeom prst="rect">
            <a:avLst/>
          </a:prstGeom>
          <a:solidFill>
            <a:srgbClr val="1B3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COBOL Component</a:t>
            </a:r>
          </a:p>
        </p:txBody>
      </p:sp>
      <p:sp>
        <p:nvSpPr>
          <p:cNvPr id="4" name="Rectangle 3"/>
          <p:cNvSpPr/>
          <p:nvPr/>
        </p:nvSpPr>
        <p:spPr>
          <a:xfrm>
            <a:off x="3017520" y="1371600"/>
            <a:ext cx="2743200" cy="457200"/>
          </a:xfrm>
          <a:prstGeom prst="rect">
            <a:avLst/>
          </a:prstGeom>
          <a:solidFill>
            <a:srgbClr val="1B3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Node.js Module</a:t>
            </a:r>
          </a:p>
        </p:txBody>
      </p:sp>
      <p:sp>
        <p:nvSpPr>
          <p:cNvPr id="5" name="Rectangle 4"/>
          <p:cNvSpPr/>
          <p:nvPr/>
        </p:nvSpPr>
        <p:spPr>
          <a:xfrm>
            <a:off x="5760720" y="1371600"/>
            <a:ext cx="2926080" cy="457200"/>
          </a:xfrm>
          <a:prstGeom prst="rect">
            <a:avLst/>
          </a:prstGeom>
          <a:solidFill>
            <a:srgbClr val="1B3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Responsibility</a:t>
            </a:r>
          </a:p>
        </p:txBody>
      </p:sp>
      <p:sp>
        <p:nvSpPr>
          <p:cNvPr id="6" name="Rectangle 5"/>
          <p:cNvSpPr/>
          <p:nvPr/>
        </p:nvSpPr>
        <p:spPr>
          <a:xfrm>
            <a:off x="457200" y="1828800"/>
            <a:ext cx="2560320" cy="502920"/>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C3E50"/>
                </a:solidFill>
              </a:defRPr>
            </a:pPr>
            <a:r>
              <a:t>main.cob</a:t>
            </a:r>
          </a:p>
        </p:txBody>
      </p:sp>
      <p:sp>
        <p:nvSpPr>
          <p:cNvPr id="7" name="Rectangle 6"/>
          <p:cNvSpPr/>
          <p:nvPr/>
        </p:nvSpPr>
        <p:spPr>
          <a:xfrm>
            <a:off x="3017520" y="1828800"/>
            <a:ext cx="2743200" cy="502920"/>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C3E50"/>
                </a:solidFill>
              </a:defRPr>
            </a:pPr>
            <a:r>
              <a:t>src/main.js</a:t>
            </a:r>
          </a:p>
        </p:txBody>
      </p:sp>
      <p:sp>
        <p:nvSpPr>
          <p:cNvPr id="8" name="Rectangle 7"/>
          <p:cNvSpPr/>
          <p:nvPr/>
        </p:nvSpPr>
        <p:spPr>
          <a:xfrm>
            <a:off x="5760720" y="1828800"/>
            <a:ext cx="2926080" cy="502920"/>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C3E50"/>
                </a:solidFill>
              </a:defRPr>
            </a:pPr>
            <a:r>
              <a:t>CLI menu &amp; program flow</a:t>
            </a:r>
          </a:p>
        </p:txBody>
      </p:sp>
      <p:sp>
        <p:nvSpPr>
          <p:cNvPr id="9" name="Rectangle 8"/>
          <p:cNvSpPr/>
          <p:nvPr/>
        </p:nvSpPr>
        <p:spPr>
          <a:xfrm>
            <a:off x="457200" y="2331720"/>
            <a:ext cx="256032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C3E50"/>
                </a:solidFill>
              </a:defRPr>
            </a:pPr>
            <a:r>
              <a:t>operations.cob</a:t>
            </a:r>
          </a:p>
        </p:txBody>
      </p:sp>
      <p:sp>
        <p:nvSpPr>
          <p:cNvPr id="10" name="Rectangle 9"/>
          <p:cNvSpPr/>
          <p:nvPr/>
        </p:nvSpPr>
        <p:spPr>
          <a:xfrm>
            <a:off x="3017520" y="2331720"/>
            <a:ext cx="27432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C3E50"/>
                </a:solidFill>
              </a:defRPr>
            </a:pPr>
            <a:r>
              <a:t>src/operations.js</a:t>
            </a:r>
          </a:p>
        </p:txBody>
      </p:sp>
      <p:sp>
        <p:nvSpPr>
          <p:cNvPr id="11" name="Rectangle 10"/>
          <p:cNvSpPr/>
          <p:nvPr/>
        </p:nvSpPr>
        <p:spPr>
          <a:xfrm>
            <a:off x="5760720" y="2331720"/>
            <a:ext cx="29260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C3E50"/>
                </a:solidFill>
              </a:defRPr>
            </a:pPr>
            <a:r>
              <a:t>Credit/Debit/View logic</a:t>
            </a:r>
          </a:p>
        </p:txBody>
      </p:sp>
      <p:sp>
        <p:nvSpPr>
          <p:cNvPr id="12" name="Rectangle 11"/>
          <p:cNvSpPr/>
          <p:nvPr/>
        </p:nvSpPr>
        <p:spPr>
          <a:xfrm>
            <a:off x="457200" y="2834640"/>
            <a:ext cx="2560320" cy="502920"/>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C3E50"/>
                </a:solidFill>
              </a:defRPr>
            </a:pPr>
            <a:r>
              <a:t>data.cob</a:t>
            </a:r>
          </a:p>
        </p:txBody>
      </p:sp>
      <p:sp>
        <p:nvSpPr>
          <p:cNvPr id="13" name="Rectangle 12"/>
          <p:cNvSpPr/>
          <p:nvPr/>
        </p:nvSpPr>
        <p:spPr>
          <a:xfrm>
            <a:off x="3017520" y="2834640"/>
            <a:ext cx="2743200" cy="502920"/>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C3E50"/>
                </a:solidFill>
              </a:defRPr>
            </a:pPr>
            <a:r>
              <a:t>src/data.js</a:t>
            </a:r>
          </a:p>
        </p:txBody>
      </p:sp>
      <p:sp>
        <p:nvSpPr>
          <p:cNvPr id="14" name="Rectangle 13"/>
          <p:cNvSpPr/>
          <p:nvPr/>
        </p:nvSpPr>
        <p:spPr>
          <a:xfrm>
            <a:off x="5760720" y="2834640"/>
            <a:ext cx="2926080" cy="502920"/>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C3E50"/>
                </a:solidFill>
              </a:defRPr>
            </a:pPr>
            <a:r>
              <a:t>Balance persistence</a:t>
            </a:r>
          </a:p>
        </p:txBody>
      </p:sp>
      <p:sp>
        <p:nvSpPr>
          <p:cNvPr id="15" name="Rectangle 14"/>
          <p:cNvSpPr/>
          <p:nvPr/>
        </p:nvSpPr>
        <p:spPr>
          <a:xfrm>
            <a:off x="457200" y="3337560"/>
            <a:ext cx="256032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C3E50"/>
                </a:solidFill>
              </a:defRPr>
            </a:pPr>
            <a:r>
              <a:t>PIC 9(6)V99</a:t>
            </a:r>
          </a:p>
        </p:txBody>
      </p:sp>
      <p:sp>
        <p:nvSpPr>
          <p:cNvPr id="16" name="Rectangle 15"/>
          <p:cNvSpPr/>
          <p:nvPr/>
        </p:nvSpPr>
        <p:spPr>
          <a:xfrm>
            <a:off x="3017520" y="3337560"/>
            <a:ext cx="27432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C3E50"/>
                </a:solidFill>
              </a:defRPr>
            </a:pPr>
            <a:r>
              <a:t>Math.round(x*100)/100</a:t>
            </a:r>
          </a:p>
        </p:txBody>
      </p:sp>
      <p:sp>
        <p:nvSpPr>
          <p:cNvPr id="17" name="Rectangle 16"/>
          <p:cNvSpPr/>
          <p:nvPr/>
        </p:nvSpPr>
        <p:spPr>
          <a:xfrm>
            <a:off x="5760720" y="3337560"/>
            <a:ext cx="29260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C3E50"/>
                </a:solidFill>
              </a:defRPr>
            </a:pPr>
            <a:r>
              <a:t>Fixed-point arithmetic</a:t>
            </a:r>
          </a:p>
        </p:txBody>
      </p:sp>
      <p:sp>
        <p:nvSpPr>
          <p:cNvPr id="18" name="Rectangle 17"/>
          <p:cNvSpPr/>
          <p:nvPr/>
        </p:nvSpPr>
        <p:spPr>
          <a:xfrm>
            <a:off x="457200" y="3840480"/>
            <a:ext cx="2560320" cy="502920"/>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C3E50"/>
                </a:solidFill>
              </a:defRPr>
            </a:pPr>
            <a:r>
              <a:t>CALL 'Program'</a:t>
            </a:r>
          </a:p>
        </p:txBody>
      </p:sp>
      <p:sp>
        <p:nvSpPr>
          <p:cNvPr id="19" name="Rectangle 18"/>
          <p:cNvSpPr/>
          <p:nvPr/>
        </p:nvSpPr>
        <p:spPr>
          <a:xfrm>
            <a:off x="3017520" y="3840480"/>
            <a:ext cx="2743200" cy="502920"/>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C3E50"/>
                </a:solidFill>
              </a:defRPr>
            </a:pPr>
            <a:r>
              <a:t>require('./module')</a:t>
            </a:r>
          </a:p>
        </p:txBody>
      </p:sp>
      <p:sp>
        <p:nvSpPr>
          <p:cNvPr id="20" name="Rectangle 19"/>
          <p:cNvSpPr/>
          <p:nvPr/>
        </p:nvSpPr>
        <p:spPr>
          <a:xfrm>
            <a:off x="5760720" y="3840480"/>
            <a:ext cx="2926080" cy="502920"/>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C3E50"/>
                </a:solidFill>
              </a:defRPr>
            </a:pPr>
            <a:r>
              <a:t>Module invocation</a:t>
            </a:r>
          </a:p>
        </p:txBody>
      </p:sp>
      <p:sp>
        <p:nvSpPr>
          <p:cNvPr id="21" name="Rectangle 20"/>
          <p:cNvSpPr/>
          <p:nvPr/>
        </p:nvSpPr>
        <p:spPr>
          <a:xfrm>
            <a:off x="457200" y="4343400"/>
            <a:ext cx="256032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C3E50"/>
                </a:solidFill>
              </a:defRPr>
            </a:pPr>
            <a:r>
              <a:t>ACCEPT</a:t>
            </a:r>
          </a:p>
        </p:txBody>
      </p:sp>
      <p:sp>
        <p:nvSpPr>
          <p:cNvPr id="22" name="Rectangle 21"/>
          <p:cNvSpPr/>
          <p:nvPr/>
        </p:nvSpPr>
        <p:spPr>
          <a:xfrm>
            <a:off x="3017520" y="4343400"/>
            <a:ext cx="27432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C3E50"/>
                </a:solidFill>
              </a:defRPr>
            </a:pPr>
            <a:r>
              <a:t>readline-sync</a:t>
            </a:r>
          </a:p>
        </p:txBody>
      </p:sp>
      <p:sp>
        <p:nvSpPr>
          <p:cNvPr id="23" name="Rectangle 22"/>
          <p:cNvSpPr/>
          <p:nvPr/>
        </p:nvSpPr>
        <p:spPr>
          <a:xfrm>
            <a:off x="5760720" y="4343400"/>
            <a:ext cx="29260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C3E50"/>
                </a:solidFill>
              </a:defRPr>
            </a:pPr>
            <a:r>
              <a:t>User input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800" b="1">
                <a:solidFill>
                  <a:srgbClr val="1B365F"/>
                </a:solidFill>
              </a:defRPr>
            </a:pPr>
            <a:r>
              <a:t>Code Conversion: Debit Operation</a:t>
            </a:r>
          </a:p>
        </p:txBody>
      </p:sp>
      <p:sp>
        <p:nvSpPr>
          <p:cNvPr id="3" name="TextBox 2"/>
          <p:cNvSpPr txBox="1"/>
          <p:nvPr/>
        </p:nvSpPr>
        <p:spPr>
          <a:xfrm>
            <a:off x="274320" y="1005840"/>
            <a:ext cx="4297680" cy="365760"/>
          </a:xfrm>
          <a:prstGeom prst="rect">
            <a:avLst/>
          </a:prstGeom>
          <a:noFill/>
        </p:spPr>
        <p:txBody>
          <a:bodyPr wrap="none">
            <a:spAutoFit/>
          </a:bodyPr>
          <a:lstStyle/>
          <a:p>
            <a:pPr>
              <a:defRPr sz="1400" b="1">
                <a:solidFill>
                  <a:srgbClr val="F39C12"/>
                </a:solidFill>
              </a:defRPr>
            </a:pPr>
            <a:r>
              <a:t>COBOL (Before)</a:t>
            </a:r>
          </a:p>
        </p:txBody>
      </p:sp>
      <p:sp>
        <p:nvSpPr>
          <p:cNvPr id="4" name="Rectangle 3"/>
          <p:cNvSpPr/>
          <p:nvPr/>
        </p:nvSpPr>
        <p:spPr>
          <a:xfrm>
            <a:off x="274320" y="1371600"/>
            <a:ext cx="4297680" cy="438912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100">
                <a:solidFill>
                  <a:srgbClr val="A6E22E"/>
                </a:solidFill>
                <a:latin typeface="Courier New"/>
              </a:defRPr>
            </a:pPr>
            <a:r>
              <a:t>IF OPERATION-TYPE = 'DEBIT '</a:t>
            </a:r>
            <a:br/>
            <a:r>
              <a:t>  ACCEPT AMOUNT</a:t>
            </a:r>
            <a:br/>
            <a:r>
              <a:t>  CALL 'DataProgram' USING</a:t>
            </a:r>
            <a:br/>
            <a:r>
              <a:t>    'READ', FINAL-BALANCE</a:t>
            </a:r>
            <a:br/>
            <a:r>
              <a:t>  IF FINAL-BALANCE &gt;= AMOUNT</a:t>
            </a:r>
            <a:br/>
            <a:r>
              <a:t>    SUBTRACT AMOUNT FROM</a:t>
            </a:r>
            <a:br/>
            <a:r>
              <a:t>      FINAL-BALANCE</a:t>
            </a:r>
            <a:br/>
            <a:r>
              <a:t>    CALL 'DataProgram' USING</a:t>
            </a:r>
            <a:br/>
            <a:r>
              <a:t>      'WRITE', FINAL-BALANCE</a:t>
            </a:r>
            <a:br/>
            <a:r>
              <a:t>  ELSE</a:t>
            </a:r>
            <a:br/>
            <a:r>
              <a:t>    DISPLAY "Insufficient funds"</a:t>
            </a:r>
            <a:br/>
            <a:r>
              <a:t>  END-IF</a:t>
            </a:r>
          </a:p>
        </p:txBody>
      </p:sp>
      <p:sp>
        <p:nvSpPr>
          <p:cNvPr id="5" name="TextBox 4"/>
          <p:cNvSpPr txBox="1"/>
          <p:nvPr/>
        </p:nvSpPr>
        <p:spPr>
          <a:xfrm>
            <a:off x="4754880" y="1005840"/>
            <a:ext cx="4114800" cy="365760"/>
          </a:xfrm>
          <a:prstGeom prst="rect">
            <a:avLst/>
          </a:prstGeom>
          <a:noFill/>
        </p:spPr>
        <p:txBody>
          <a:bodyPr wrap="none">
            <a:spAutoFit/>
          </a:bodyPr>
          <a:lstStyle/>
          <a:p>
            <a:pPr>
              <a:defRPr sz="1400" b="1">
                <a:solidFill>
                  <a:srgbClr val="27AE60"/>
                </a:solidFill>
              </a:defRPr>
            </a:pPr>
            <a:r>
              <a:t>Node.js (After)</a:t>
            </a:r>
          </a:p>
        </p:txBody>
      </p:sp>
      <p:sp>
        <p:nvSpPr>
          <p:cNvPr id="6" name="Rectangle 5"/>
          <p:cNvSpPr/>
          <p:nvPr/>
        </p:nvSpPr>
        <p:spPr>
          <a:xfrm>
            <a:off x="4754880" y="1371600"/>
            <a:ext cx="4114800" cy="438912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100">
                <a:solidFill>
                  <a:srgbClr val="66D9EF"/>
                </a:solidFill>
                <a:latin typeface="Courier New"/>
              </a:defRPr>
            </a:pPr>
            <a:r>
              <a:t>function debitAccount(amount) {</a:t>
            </a:r>
            <a:br/>
            <a:r>
              <a:t>  const debitAmount =</a:t>
            </a:r>
            <a:br/>
            <a:r>
              <a:t>    Math.round(amount * 100) / 100;</a:t>
            </a:r>
            <a:br/>
            <a:r>
              <a:t>  let balance = data.readBalance();</a:t>
            </a:r>
            <a:br/>
            <a:br/>
            <a:r>
              <a:t>  if (balance &gt;= debitAmount) {</a:t>
            </a:r>
            <a:br/>
            <a:r>
              <a:t>    balance = Math.round(</a:t>
            </a:r>
            <a:br/>
            <a:r>
              <a:t>      (balance - debitAmount) * 100</a:t>
            </a:r>
            <a:br/>
            <a:r>
              <a:t>    ) / 100;</a:t>
            </a:r>
            <a:br/>
            <a:r>
              <a:t>    data.writeBalance(balance);</a:t>
            </a:r>
            <a:br/>
            <a:r>
              <a:t>    return { success: true, balance };</a:t>
            </a:r>
            <a:br/>
            <a:r>
              <a:t>  }</a:t>
            </a:r>
            <a:br/>
            <a:br/>
            <a:r>
              <a:t>  return { success: false, balance,</a:t>
            </a:r>
            <a:br/>
            <a:r>
              <a:t>    message: 'Insufficient funds' };</a:t>
            </a:r>
            <a:br/>
            <a: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2800" b="1">
                <a:solidFill>
                  <a:srgbClr val="1B365F"/>
                </a:solidFill>
              </a:defRPr>
            </a:pPr>
            <a:r>
              <a:t>Testing Strategy</a:t>
            </a:r>
          </a:p>
        </p:txBody>
      </p:sp>
      <p:sp>
        <p:nvSpPr>
          <p:cNvPr id="3" name="TextBox 2"/>
          <p:cNvSpPr txBox="1"/>
          <p:nvPr/>
        </p:nvSpPr>
        <p:spPr>
          <a:xfrm>
            <a:off x="457200" y="1097280"/>
            <a:ext cx="8229600" cy="457200"/>
          </a:xfrm>
          <a:prstGeom prst="rect">
            <a:avLst/>
          </a:prstGeom>
          <a:noFill/>
        </p:spPr>
        <p:txBody>
          <a:bodyPr wrap="none">
            <a:spAutoFit/>
          </a:bodyPr>
          <a:lstStyle/>
          <a:p>
            <a:pPr>
              <a:defRPr sz="1800" b="1">
                <a:solidFill>
                  <a:srgbClr val="27AE60"/>
                </a:solidFill>
              </a:defRPr>
            </a:pPr>
            <a:r>
              <a:t>26 Tests | 3 Suites | 100% Pass Rate</a:t>
            </a:r>
          </a:p>
        </p:txBody>
      </p:sp>
      <p:sp>
        <p:nvSpPr>
          <p:cNvPr id="4" name="TextBox 3"/>
          <p:cNvSpPr txBox="1"/>
          <p:nvPr/>
        </p:nvSpPr>
        <p:spPr>
          <a:xfrm>
            <a:off x="457200" y="1645920"/>
            <a:ext cx="8229600" cy="365760"/>
          </a:xfrm>
          <a:prstGeom prst="rect">
            <a:avLst/>
          </a:prstGeom>
          <a:noFill/>
        </p:spPr>
        <p:txBody>
          <a:bodyPr wrap="none">
            <a:spAutoFit/>
          </a:bodyPr>
          <a:lstStyle/>
          <a:p>
            <a:pPr>
              <a:defRPr sz="1400" b="1">
                <a:solidFill>
                  <a:srgbClr val="4A90D9"/>
                </a:solidFill>
              </a:defRPr>
            </a:pPr>
            <a:r>
              <a:t>Unit Tests - Data Module</a:t>
            </a:r>
          </a:p>
        </p:txBody>
      </p:sp>
      <p:sp>
        <p:nvSpPr>
          <p:cNvPr id="5" name="TextBox 4"/>
          <p:cNvSpPr txBox="1"/>
          <p:nvPr/>
        </p:nvSpPr>
        <p:spPr>
          <a:xfrm>
            <a:off x="731520" y="1965960"/>
            <a:ext cx="7772400" cy="320040"/>
          </a:xfrm>
          <a:prstGeom prst="rect">
            <a:avLst/>
          </a:prstGeom>
          <a:noFill/>
        </p:spPr>
        <p:txBody>
          <a:bodyPr wrap="none">
            <a:spAutoFit/>
          </a:bodyPr>
          <a:lstStyle/>
          <a:p>
            <a:pPr>
              <a:defRPr sz="1200">
                <a:solidFill>
                  <a:srgbClr val="2C3E50"/>
                </a:solidFill>
              </a:defRPr>
            </a:pPr>
            <a:r>
              <a:t>  readBalance returns initial value (1000.00)</a:t>
            </a:r>
          </a:p>
        </p:txBody>
      </p:sp>
      <p:sp>
        <p:nvSpPr>
          <p:cNvPr id="6" name="TextBox 5"/>
          <p:cNvSpPr txBox="1"/>
          <p:nvPr/>
        </p:nvSpPr>
        <p:spPr>
          <a:xfrm>
            <a:off x="731520" y="2240279"/>
            <a:ext cx="7772400" cy="320040"/>
          </a:xfrm>
          <a:prstGeom prst="rect">
            <a:avLst/>
          </a:prstGeom>
          <a:noFill/>
        </p:spPr>
        <p:txBody>
          <a:bodyPr wrap="none">
            <a:spAutoFit/>
          </a:bodyPr>
          <a:lstStyle/>
          <a:p>
            <a:pPr>
              <a:defRPr sz="1200">
                <a:solidFill>
                  <a:srgbClr val="2C3E50"/>
                </a:solidFill>
              </a:defRPr>
            </a:pPr>
            <a:r>
              <a:t>  writeBalance persists new values</a:t>
            </a:r>
          </a:p>
        </p:txBody>
      </p:sp>
      <p:sp>
        <p:nvSpPr>
          <p:cNvPr id="7" name="TextBox 6"/>
          <p:cNvSpPr txBox="1"/>
          <p:nvPr/>
        </p:nvSpPr>
        <p:spPr>
          <a:xfrm>
            <a:off x="731520" y="2514599"/>
            <a:ext cx="7772400" cy="320040"/>
          </a:xfrm>
          <a:prstGeom prst="rect">
            <a:avLst/>
          </a:prstGeom>
          <a:noFill/>
        </p:spPr>
        <p:txBody>
          <a:bodyPr wrap="none">
            <a:spAutoFit/>
          </a:bodyPr>
          <a:lstStyle/>
          <a:p>
            <a:pPr>
              <a:defRPr sz="1200">
                <a:solidFill>
                  <a:srgbClr val="2C3E50"/>
                </a:solidFill>
              </a:defRPr>
            </a:pPr>
            <a:r>
              <a:t>  resetBalance restores initial state</a:t>
            </a:r>
          </a:p>
        </p:txBody>
      </p:sp>
      <p:sp>
        <p:nvSpPr>
          <p:cNvPr id="8" name="TextBox 7"/>
          <p:cNvSpPr txBox="1"/>
          <p:nvPr/>
        </p:nvSpPr>
        <p:spPr>
          <a:xfrm>
            <a:off x="457200" y="2788919"/>
            <a:ext cx="8229600" cy="365760"/>
          </a:xfrm>
          <a:prstGeom prst="rect">
            <a:avLst/>
          </a:prstGeom>
          <a:noFill/>
        </p:spPr>
        <p:txBody>
          <a:bodyPr wrap="none">
            <a:spAutoFit/>
          </a:bodyPr>
          <a:lstStyle/>
          <a:p>
            <a:pPr>
              <a:defRPr sz="1400" b="1">
                <a:solidFill>
                  <a:srgbClr val="4A90D9"/>
                </a:solidFill>
              </a:defRPr>
            </a:pPr>
            <a:r>
              <a:t>Unit Tests - Operations Module</a:t>
            </a:r>
          </a:p>
        </p:txBody>
      </p:sp>
      <p:sp>
        <p:nvSpPr>
          <p:cNvPr id="9" name="TextBox 8"/>
          <p:cNvSpPr txBox="1"/>
          <p:nvPr/>
        </p:nvSpPr>
        <p:spPr>
          <a:xfrm>
            <a:off x="731520" y="3108959"/>
            <a:ext cx="7772400" cy="320040"/>
          </a:xfrm>
          <a:prstGeom prst="rect">
            <a:avLst/>
          </a:prstGeom>
          <a:noFill/>
        </p:spPr>
        <p:txBody>
          <a:bodyPr wrap="none">
            <a:spAutoFit/>
          </a:bodyPr>
          <a:lstStyle/>
          <a:p>
            <a:pPr>
              <a:defRPr sz="1200">
                <a:solidFill>
                  <a:srgbClr val="2C3E50"/>
                </a:solidFill>
              </a:defRPr>
            </a:pPr>
            <a:r>
              <a:t>  TC-1.1: View balance displays correct amount</a:t>
            </a:r>
          </a:p>
        </p:txBody>
      </p:sp>
      <p:sp>
        <p:nvSpPr>
          <p:cNvPr id="10" name="TextBox 9"/>
          <p:cNvSpPr txBox="1"/>
          <p:nvPr/>
        </p:nvSpPr>
        <p:spPr>
          <a:xfrm>
            <a:off x="731520" y="3383279"/>
            <a:ext cx="7772400" cy="320040"/>
          </a:xfrm>
          <a:prstGeom prst="rect">
            <a:avLst/>
          </a:prstGeom>
          <a:noFill/>
        </p:spPr>
        <p:txBody>
          <a:bodyPr wrap="none">
            <a:spAutoFit/>
          </a:bodyPr>
          <a:lstStyle/>
          <a:p>
            <a:pPr>
              <a:defRPr sz="1200">
                <a:solidFill>
                  <a:srgbClr val="2C3E50"/>
                </a:solidFill>
              </a:defRPr>
            </a:pPr>
            <a:r>
              <a:t>  TC-2.1: Credit adds funds correctly</a:t>
            </a:r>
          </a:p>
        </p:txBody>
      </p:sp>
      <p:sp>
        <p:nvSpPr>
          <p:cNvPr id="11" name="TextBox 10"/>
          <p:cNvSpPr txBox="1"/>
          <p:nvPr/>
        </p:nvSpPr>
        <p:spPr>
          <a:xfrm>
            <a:off x="731520" y="3657599"/>
            <a:ext cx="7772400" cy="320040"/>
          </a:xfrm>
          <a:prstGeom prst="rect">
            <a:avLst/>
          </a:prstGeom>
          <a:noFill/>
        </p:spPr>
        <p:txBody>
          <a:bodyPr wrap="none">
            <a:spAutoFit/>
          </a:bodyPr>
          <a:lstStyle/>
          <a:p>
            <a:pPr>
              <a:defRPr sz="1200">
                <a:solidFill>
                  <a:srgbClr val="2C3E50"/>
                </a:solidFill>
              </a:defRPr>
            </a:pPr>
            <a:r>
              <a:t>  TC-2.2: Zero credit leaves balance unchanged</a:t>
            </a:r>
          </a:p>
        </p:txBody>
      </p:sp>
      <p:sp>
        <p:nvSpPr>
          <p:cNvPr id="12" name="TextBox 11"/>
          <p:cNvSpPr txBox="1"/>
          <p:nvPr/>
        </p:nvSpPr>
        <p:spPr>
          <a:xfrm>
            <a:off x="731520" y="3931919"/>
            <a:ext cx="7772400" cy="320040"/>
          </a:xfrm>
          <a:prstGeom prst="rect">
            <a:avLst/>
          </a:prstGeom>
          <a:noFill/>
        </p:spPr>
        <p:txBody>
          <a:bodyPr wrap="none">
            <a:spAutoFit/>
          </a:bodyPr>
          <a:lstStyle/>
          <a:p>
            <a:pPr>
              <a:defRPr sz="1200">
                <a:solidFill>
                  <a:srgbClr val="2C3E50"/>
                </a:solidFill>
              </a:defRPr>
            </a:pPr>
            <a:r>
              <a:t>  TC-3.1: Debit subtracts funds correctly</a:t>
            </a:r>
          </a:p>
        </p:txBody>
      </p:sp>
      <p:sp>
        <p:nvSpPr>
          <p:cNvPr id="13" name="TextBox 12"/>
          <p:cNvSpPr txBox="1"/>
          <p:nvPr/>
        </p:nvSpPr>
        <p:spPr>
          <a:xfrm>
            <a:off x="731520" y="4206239"/>
            <a:ext cx="7772400" cy="320040"/>
          </a:xfrm>
          <a:prstGeom prst="rect">
            <a:avLst/>
          </a:prstGeom>
          <a:noFill/>
        </p:spPr>
        <p:txBody>
          <a:bodyPr wrap="none">
            <a:spAutoFit/>
          </a:bodyPr>
          <a:lstStyle/>
          <a:p>
            <a:pPr>
              <a:defRPr sz="1200">
                <a:solidFill>
                  <a:srgbClr val="2C3E50"/>
                </a:solidFill>
              </a:defRPr>
            </a:pPr>
            <a:r>
              <a:t>  TC-3.2: Insufficient funds rejected</a:t>
            </a:r>
          </a:p>
        </p:txBody>
      </p:sp>
      <p:sp>
        <p:nvSpPr>
          <p:cNvPr id="14" name="TextBox 13"/>
          <p:cNvSpPr txBox="1"/>
          <p:nvPr/>
        </p:nvSpPr>
        <p:spPr>
          <a:xfrm>
            <a:off x="731520" y="4480559"/>
            <a:ext cx="7772400" cy="320040"/>
          </a:xfrm>
          <a:prstGeom prst="rect">
            <a:avLst/>
          </a:prstGeom>
          <a:noFill/>
        </p:spPr>
        <p:txBody>
          <a:bodyPr wrap="none">
            <a:spAutoFit/>
          </a:bodyPr>
          <a:lstStyle/>
          <a:p>
            <a:pPr>
              <a:defRPr sz="1200">
                <a:solidFill>
                  <a:srgbClr val="2C3E50"/>
                </a:solidFill>
              </a:defRPr>
            </a:pPr>
            <a:r>
              <a:t>  TC-3.3: Zero debit leaves balance unchanged</a:t>
            </a:r>
          </a:p>
        </p:txBody>
      </p:sp>
      <p:sp>
        <p:nvSpPr>
          <p:cNvPr id="15" name="TextBox 14"/>
          <p:cNvSpPr txBox="1"/>
          <p:nvPr/>
        </p:nvSpPr>
        <p:spPr>
          <a:xfrm>
            <a:off x="457200" y="4754879"/>
            <a:ext cx="8229600" cy="365760"/>
          </a:xfrm>
          <a:prstGeom prst="rect">
            <a:avLst/>
          </a:prstGeom>
          <a:noFill/>
        </p:spPr>
        <p:txBody>
          <a:bodyPr wrap="none">
            <a:spAutoFit/>
          </a:bodyPr>
          <a:lstStyle/>
          <a:p>
            <a:pPr>
              <a:defRPr sz="1400" b="1">
                <a:solidFill>
                  <a:srgbClr val="4A90D9"/>
                </a:solidFill>
              </a:defRPr>
            </a:pPr>
            <a:r>
              <a:t>Integration Tests</a:t>
            </a:r>
          </a:p>
        </p:txBody>
      </p:sp>
      <p:sp>
        <p:nvSpPr>
          <p:cNvPr id="16" name="TextBox 15"/>
          <p:cNvSpPr txBox="1"/>
          <p:nvPr/>
        </p:nvSpPr>
        <p:spPr>
          <a:xfrm>
            <a:off x="731520" y="5074919"/>
            <a:ext cx="7772400" cy="320040"/>
          </a:xfrm>
          <a:prstGeom prst="rect">
            <a:avLst/>
          </a:prstGeom>
          <a:noFill/>
        </p:spPr>
        <p:txBody>
          <a:bodyPr wrap="none">
            <a:spAutoFit/>
          </a:bodyPr>
          <a:lstStyle/>
          <a:p>
            <a:pPr>
              <a:defRPr sz="1200">
                <a:solidFill>
                  <a:srgbClr val="2C3E50"/>
                </a:solidFill>
              </a:defRPr>
            </a:pPr>
            <a:r>
              <a:t>  Full workflow: view -&gt; credit -&gt; debit -&gt; view</a:t>
            </a:r>
          </a:p>
        </p:txBody>
      </p:sp>
      <p:sp>
        <p:nvSpPr>
          <p:cNvPr id="17" name="TextBox 16"/>
          <p:cNvSpPr txBox="1"/>
          <p:nvPr/>
        </p:nvSpPr>
        <p:spPr>
          <a:xfrm>
            <a:off x="731520" y="5349239"/>
            <a:ext cx="7772400" cy="320040"/>
          </a:xfrm>
          <a:prstGeom prst="rect">
            <a:avLst/>
          </a:prstGeom>
          <a:noFill/>
        </p:spPr>
        <p:txBody>
          <a:bodyPr wrap="none">
            <a:spAutoFit/>
          </a:bodyPr>
          <a:lstStyle/>
          <a:p>
            <a:pPr>
              <a:defRPr sz="1200">
                <a:solidFill>
                  <a:srgbClr val="2C3E50"/>
                </a:solidFill>
              </a:defRPr>
            </a:pPr>
            <a:r>
              <a:t>  Multiple operations maintain correct state</a:t>
            </a:r>
          </a:p>
        </p:txBody>
      </p:sp>
      <p:sp>
        <p:nvSpPr>
          <p:cNvPr id="18" name="TextBox 17"/>
          <p:cNvSpPr txBox="1"/>
          <p:nvPr/>
        </p:nvSpPr>
        <p:spPr>
          <a:xfrm>
            <a:off x="731520" y="5623559"/>
            <a:ext cx="7772400" cy="320040"/>
          </a:xfrm>
          <a:prstGeom prst="rect">
            <a:avLst/>
          </a:prstGeom>
          <a:noFill/>
        </p:spPr>
        <p:txBody>
          <a:bodyPr wrap="none">
            <a:spAutoFit/>
          </a:bodyPr>
          <a:lstStyle/>
          <a:p>
            <a:pPr>
              <a:defRPr sz="1200">
                <a:solidFill>
                  <a:srgbClr val="2C3E50"/>
                </a:solidFill>
              </a:defRPr>
            </a:pPr>
            <a:r>
              <a:t>  Drain-then-credit recovery scenario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2800" b="1">
                <a:solidFill>
                  <a:srgbClr val="1B365F"/>
                </a:solidFill>
              </a:defRPr>
            </a:pPr>
            <a:r>
              <a:t>Deployment Pipeline</a:t>
            </a:r>
          </a:p>
        </p:txBody>
      </p:sp>
      <p:sp>
        <p:nvSpPr>
          <p:cNvPr id="3" name="Rounded Rectangle 2"/>
          <p:cNvSpPr/>
          <p:nvPr/>
        </p:nvSpPr>
        <p:spPr>
          <a:xfrm>
            <a:off x="457200" y="1188720"/>
            <a:ext cx="201168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 Validate</a:t>
            </a:r>
          </a:p>
        </p:txBody>
      </p:sp>
      <p:sp>
        <p:nvSpPr>
          <p:cNvPr id="4" name="TextBox 3"/>
          <p:cNvSpPr txBox="1"/>
          <p:nvPr/>
        </p:nvSpPr>
        <p:spPr>
          <a:xfrm>
            <a:off x="2743200" y="1188720"/>
            <a:ext cx="5943600" cy="502920"/>
          </a:xfrm>
          <a:prstGeom prst="rect">
            <a:avLst/>
          </a:prstGeom>
          <a:noFill/>
        </p:spPr>
        <p:txBody>
          <a:bodyPr wrap="none" anchor="ctr">
            <a:spAutoFit/>
          </a:bodyPr>
          <a:lstStyle/>
          <a:p>
            <a:pPr>
              <a:defRPr sz="1400">
                <a:solidFill>
                  <a:srgbClr val="2C3E50"/>
                </a:solidFill>
              </a:defRPr>
            </a:pPr>
            <a:r>
              <a:t>Check Node.js 18+, npm, Docker</a:t>
            </a:r>
          </a:p>
        </p:txBody>
      </p:sp>
      <p:sp>
        <p:nvSpPr>
          <p:cNvPr id="5" name="Rounded Rectangle 4"/>
          <p:cNvSpPr/>
          <p:nvPr/>
        </p:nvSpPr>
        <p:spPr>
          <a:xfrm>
            <a:off x="457200" y="1828800"/>
            <a:ext cx="201168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 Install</a:t>
            </a:r>
          </a:p>
        </p:txBody>
      </p:sp>
      <p:sp>
        <p:nvSpPr>
          <p:cNvPr id="6" name="TextBox 5"/>
          <p:cNvSpPr txBox="1"/>
          <p:nvPr/>
        </p:nvSpPr>
        <p:spPr>
          <a:xfrm>
            <a:off x="2743200" y="1828800"/>
            <a:ext cx="5943600" cy="502920"/>
          </a:xfrm>
          <a:prstGeom prst="rect">
            <a:avLst/>
          </a:prstGeom>
          <a:noFill/>
        </p:spPr>
        <p:txBody>
          <a:bodyPr wrap="none" anchor="ctr">
            <a:spAutoFit/>
          </a:bodyPr>
          <a:lstStyle/>
          <a:p>
            <a:pPr>
              <a:defRPr sz="1400">
                <a:solidFill>
                  <a:srgbClr val="2C3E50"/>
                </a:solidFill>
              </a:defRPr>
            </a:pPr>
            <a:r>
              <a:t>npm ci (clean install)</a:t>
            </a:r>
          </a:p>
        </p:txBody>
      </p:sp>
      <p:sp>
        <p:nvSpPr>
          <p:cNvPr id="7" name="Rounded Rectangle 6"/>
          <p:cNvSpPr/>
          <p:nvPr/>
        </p:nvSpPr>
        <p:spPr>
          <a:xfrm>
            <a:off x="457200" y="2468880"/>
            <a:ext cx="201168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 Lint</a:t>
            </a:r>
          </a:p>
        </p:txBody>
      </p:sp>
      <p:sp>
        <p:nvSpPr>
          <p:cNvPr id="8" name="TextBox 7"/>
          <p:cNvSpPr txBox="1"/>
          <p:nvPr/>
        </p:nvSpPr>
        <p:spPr>
          <a:xfrm>
            <a:off x="2743200" y="2468880"/>
            <a:ext cx="5943600" cy="502920"/>
          </a:xfrm>
          <a:prstGeom prst="rect">
            <a:avLst/>
          </a:prstGeom>
          <a:noFill/>
        </p:spPr>
        <p:txBody>
          <a:bodyPr wrap="none" anchor="ctr">
            <a:spAutoFit/>
          </a:bodyPr>
          <a:lstStyle/>
          <a:p>
            <a:pPr>
              <a:defRPr sz="1400">
                <a:solidFill>
                  <a:srgbClr val="2C3E50"/>
                </a:solidFill>
              </a:defRPr>
            </a:pPr>
            <a:r>
              <a:t>ESLint static analysis</a:t>
            </a:r>
          </a:p>
        </p:txBody>
      </p:sp>
      <p:sp>
        <p:nvSpPr>
          <p:cNvPr id="9" name="Rounded Rectangle 8"/>
          <p:cNvSpPr/>
          <p:nvPr/>
        </p:nvSpPr>
        <p:spPr>
          <a:xfrm>
            <a:off x="457200" y="3108960"/>
            <a:ext cx="201168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4. Test</a:t>
            </a:r>
          </a:p>
        </p:txBody>
      </p:sp>
      <p:sp>
        <p:nvSpPr>
          <p:cNvPr id="10" name="TextBox 9"/>
          <p:cNvSpPr txBox="1"/>
          <p:nvPr/>
        </p:nvSpPr>
        <p:spPr>
          <a:xfrm>
            <a:off x="2743200" y="3108960"/>
            <a:ext cx="5943600" cy="502920"/>
          </a:xfrm>
          <a:prstGeom prst="rect">
            <a:avLst/>
          </a:prstGeom>
          <a:noFill/>
        </p:spPr>
        <p:txBody>
          <a:bodyPr wrap="none" anchor="ctr">
            <a:spAutoFit/>
          </a:bodyPr>
          <a:lstStyle/>
          <a:p>
            <a:pPr>
              <a:defRPr sz="1400">
                <a:solidFill>
                  <a:srgbClr val="2C3E50"/>
                </a:solidFill>
              </a:defRPr>
            </a:pPr>
            <a:r>
              <a:t>Jest with coverage report</a:t>
            </a:r>
          </a:p>
        </p:txBody>
      </p:sp>
      <p:sp>
        <p:nvSpPr>
          <p:cNvPr id="11" name="Rounded Rectangle 10"/>
          <p:cNvSpPr/>
          <p:nvPr/>
        </p:nvSpPr>
        <p:spPr>
          <a:xfrm>
            <a:off x="457200" y="3749040"/>
            <a:ext cx="201168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5. Build</a:t>
            </a:r>
          </a:p>
        </p:txBody>
      </p:sp>
      <p:sp>
        <p:nvSpPr>
          <p:cNvPr id="12" name="TextBox 11"/>
          <p:cNvSpPr txBox="1"/>
          <p:nvPr/>
        </p:nvSpPr>
        <p:spPr>
          <a:xfrm>
            <a:off x="2743200" y="3749040"/>
            <a:ext cx="5943600" cy="502920"/>
          </a:xfrm>
          <a:prstGeom prst="rect">
            <a:avLst/>
          </a:prstGeom>
          <a:noFill/>
        </p:spPr>
        <p:txBody>
          <a:bodyPr wrap="none" anchor="ctr">
            <a:spAutoFit/>
          </a:bodyPr>
          <a:lstStyle/>
          <a:p>
            <a:pPr>
              <a:defRPr sz="1400">
                <a:solidFill>
                  <a:srgbClr val="2C3E50"/>
                </a:solidFill>
              </a:defRPr>
            </a:pPr>
            <a:r>
              <a:t>Multi-stage Docker image (Alpine)</a:t>
            </a:r>
          </a:p>
        </p:txBody>
      </p:sp>
      <p:sp>
        <p:nvSpPr>
          <p:cNvPr id="13" name="Rounded Rectangle 12"/>
          <p:cNvSpPr/>
          <p:nvPr/>
        </p:nvSpPr>
        <p:spPr>
          <a:xfrm>
            <a:off x="457200" y="4389120"/>
            <a:ext cx="201168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6. Push</a:t>
            </a:r>
          </a:p>
        </p:txBody>
      </p:sp>
      <p:sp>
        <p:nvSpPr>
          <p:cNvPr id="14" name="TextBox 13"/>
          <p:cNvSpPr txBox="1"/>
          <p:nvPr/>
        </p:nvSpPr>
        <p:spPr>
          <a:xfrm>
            <a:off x="2743200" y="4389120"/>
            <a:ext cx="5943600" cy="502920"/>
          </a:xfrm>
          <a:prstGeom prst="rect">
            <a:avLst/>
          </a:prstGeom>
          <a:noFill/>
        </p:spPr>
        <p:txBody>
          <a:bodyPr wrap="none" anchor="ctr">
            <a:spAutoFit/>
          </a:bodyPr>
          <a:lstStyle/>
          <a:p>
            <a:pPr>
              <a:defRPr sz="1400">
                <a:solidFill>
                  <a:srgbClr val="2C3E50"/>
                </a:solidFill>
              </a:defRPr>
            </a:pPr>
            <a:r>
              <a:t>Container registry (GHCR)</a:t>
            </a:r>
          </a:p>
        </p:txBody>
      </p:sp>
      <p:sp>
        <p:nvSpPr>
          <p:cNvPr id="15" name="Rounded Rectangle 14"/>
          <p:cNvSpPr/>
          <p:nvPr/>
        </p:nvSpPr>
        <p:spPr>
          <a:xfrm>
            <a:off x="457200" y="5029200"/>
            <a:ext cx="201168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7. Deploy</a:t>
            </a:r>
          </a:p>
        </p:txBody>
      </p:sp>
      <p:sp>
        <p:nvSpPr>
          <p:cNvPr id="16" name="TextBox 15"/>
          <p:cNvSpPr txBox="1"/>
          <p:nvPr/>
        </p:nvSpPr>
        <p:spPr>
          <a:xfrm>
            <a:off x="2743200" y="5029200"/>
            <a:ext cx="5943600" cy="502920"/>
          </a:xfrm>
          <a:prstGeom prst="rect">
            <a:avLst/>
          </a:prstGeom>
          <a:noFill/>
        </p:spPr>
        <p:txBody>
          <a:bodyPr wrap="none" anchor="ctr">
            <a:spAutoFit/>
          </a:bodyPr>
          <a:lstStyle/>
          <a:p>
            <a:pPr>
              <a:defRPr sz="1400">
                <a:solidFill>
                  <a:srgbClr val="2C3E50"/>
                </a:solidFill>
              </a:defRPr>
            </a:pPr>
            <a:r>
              <a:t>docker run with health checks</a:t>
            </a:r>
          </a:p>
        </p:txBody>
      </p:sp>
      <p:sp>
        <p:nvSpPr>
          <p:cNvPr id="17" name="TextBox 16"/>
          <p:cNvSpPr txBox="1"/>
          <p:nvPr/>
        </p:nvSpPr>
        <p:spPr>
          <a:xfrm>
            <a:off x="457200" y="5943600"/>
            <a:ext cx="8229600" cy="731520"/>
          </a:xfrm>
          <a:prstGeom prst="rect">
            <a:avLst/>
          </a:prstGeom>
          <a:noFill/>
        </p:spPr>
        <p:txBody>
          <a:bodyPr wrap="square">
            <a:spAutoFit/>
          </a:bodyPr>
          <a:lstStyle/>
          <a:p>
            <a:pPr>
              <a:defRPr sz="1400">
                <a:solidFill>
                  <a:srgbClr val="2C3E50"/>
                </a:solidFill>
                <a:latin typeface="Courier New"/>
              </a:defRPr>
            </a:pPr>
            <a:r>
              <a:t>Deploy command: ./scripts/deploy.sh [development|staging|production]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2800" b="1">
                <a:solidFill>
                  <a:srgbClr val="1B365F"/>
                </a:solidFill>
              </a:defRPr>
            </a:pPr>
            <a:r>
              <a:t>Key Decisions &amp; Trade-offs</a:t>
            </a:r>
          </a:p>
        </p:txBody>
      </p:sp>
      <p:sp>
        <p:nvSpPr>
          <p:cNvPr id="3" name="TextBox 2"/>
          <p:cNvSpPr txBox="1"/>
          <p:nvPr/>
        </p:nvSpPr>
        <p:spPr>
          <a:xfrm>
            <a:off x="457200" y="1097280"/>
            <a:ext cx="8229600" cy="5029200"/>
          </a:xfrm>
          <a:prstGeom prst="rect">
            <a:avLst/>
          </a:prstGeom>
          <a:noFill/>
        </p:spPr>
        <p:txBody>
          <a:bodyPr wrap="square">
            <a:spAutoFit/>
          </a:bodyPr>
          <a:lstStyle/>
          <a:p>
            <a:pPr>
              <a:spcAft>
                <a:spcPts val="1200"/>
              </a:spcAft>
            </a:pPr>
            <a:r>
              <a:rPr sz="1400" b="1">
                <a:solidFill>
                  <a:srgbClr val="1B365F"/>
                </a:solidFill>
              </a:rPr>
              <a:t>readline-sync for I/O: </a:t>
            </a:r>
            <a:r>
              <a:rPr sz="1300">
                <a:solidFill>
                  <a:srgbClr val="2C3E50"/>
                </a:solidFill>
              </a:rPr>
              <a:t>Matches COBOL's synchronous behavior. Could migrate to async later for web API.</a:t>
            </a:r>
          </a:p>
          <a:p>
            <a:pPr>
              <a:spcAft>
                <a:spcPts val="1200"/>
              </a:spcAft>
            </a:pPr>
            <a:r>
              <a:rPr sz="1400" b="1">
                <a:solidFill>
                  <a:srgbClr val="1B365F"/>
                </a:solidFill>
              </a:rPr>
              <a:t>In-memory data storage: </a:t>
            </a:r>
            <a:r>
              <a:rPr sz="1300">
                <a:solidFill>
                  <a:srgbClr val="2C3E50"/>
                </a:solidFill>
              </a:rPr>
              <a:t>Mirrors COBOL's working-storage. Production would use a database.</a:t>
            </a:r>
          </a:p>
          <a:p>
            <a:pPr>
              <a:spcAft>
                <a:spcPts val="1200"/>
              </a:spcAft>
            </a:pPr>
            <a:r>
              <a:rPr sz="1400" b="1">
                <a:solidFill>
                  <a:srgbClr val="1B365F"/>
                </a:solidFill>
              </a:rPr>
              <a:t>Math.round for precision: </a:t>
            </a:r>
            <a:r>
              <a:rPr sz="1300">
                <a:solidFill>
                  <a:srgbClr val="2C3E50"/>
                </a:solidFill>
              </a:rPr>
              <a:t>Replicates PIC 9(6)V99 fixed-point. Avoids floating-point drift.</a:t>
            </a:r>
          </a:p>
          <a:p>
            <a:pPr>
              <a:spcAft>
                <a:spcPts val="1200"/>
              </a:spcAft>
            </a:pPr>
            <a:r>
              <a:rPr sz="1400" b="1">
                <a:solidFill>
                  <a:srgbClr val="1B365F"/>
                </a:solidFill>
              </a:rPr>
              <a:t>Jest for testing: </a:t>
            </a:r>
            <a:r>
              <a:rPr sz="1300">
                <a:solidFill>
                  <a:srgbClr val="2C3E50"/>
                </a:solidFill>
              </a:rPr>
              <a:t>Industry standard, good coverage reporting, maps to TESTPLAN.md.</a:t>
            </a:r>
          </a:p>
          <a:p>
            <a:pPr>
              <a:spcAft>
                <a:spcPts val="1200"/>
              </a:spcAft>
            </a:pPr>
            <a:r>
              <a:rPr sz="1400" b="1">
                <a:solidFill>
                  <a:srgbClr val="1B365F"/>
                </a:solidFill>
              </a:rPr>
              <a:t>Docker multi-stage build: </a:t>
            </a:r>
            <a:r>
              <a:rPr sz="1300">
                <a:solidFill>
                  <a:srgbClr val="2C3E50"/>
                </a:solidFill>
              </a:rPr>
              <a:t>Minimal image (Alpine), non-root user, health checks for orchestration.</a:t>
            </a:r>
          </a:p>
          <a:p>
            <a:pPr>
              <a:spcAft>
                <a:spcPts val="1200"/>
              </a:spcAft>
            </a:pPr>
            <a:r>
              <a:rPr sz="1400" b="1">
                <a:solidFill>
                  <a:srgbClr val="1B365F"/>
                </a:solidFill>
              </a:rPr>
              <a:t>GitHub Actions CI/CD: </a:t>
            </a:r>
            <a:r>
              <a:rPr sz="1300">
                <a:solidFill>
                  <a:srgbClr val="2C3E50"/>
                </a:solidFill>
              </a:rPr>
              <a:t>Matrix testing (Node 18/20), auto coverage upload, Docker validation.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365F"/>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2800" b="1">
                <a:solidFill>
                  <a:srgbClr val="FFFFFF"/>
                </a:solidFill>
              </a:defRPr>
            </a:pPr>
            <a:r>
              <a:t>Results &amp; Next Steps</a:t>
            </a:r>
          </a:p>
        </p:txBody>
      </p:sp>
      <p:sp>
        <p:nvSpPr>
          <p:cNvPr id="3" name="TextBox 2"/>
          <p:cNvSpPr txBox="1"/>
          <p:nvPr/>
        </p:nvSpPr>
        <p:spPr>
          <a:xfrm>
            <a:off x="457200" y="1188720"/>
            <a:ext cx="4114800" cy="3657600"/>
          </a:xfrm>
          <a:prstGeom prst="rect">
            <a:avLst/>
          </a:prstGeom>
          <a:noFill/>
        </p:spPr>
        <p:txBody>
          <a:bodyPr wrap="square">
            <a:spAutoFit/>
          </a:bodyPr>
          <a:lstStyle/>
          <a:p>
            <a:pPr>
              <a:spcAft>
                <a:spcPts val="800"/>
              </a:spcAft>
              <a:defRPr sz="1800" b="1">
                <a:solidFill>
                  <a:srgbClr val="27AE60"/>
                </a:solidFill>
              </a:defRPr>
            </a:pPr>
            <a:r>
              <a:t>Achieved:</a:t>
            </a:r>
          </a:p>
          <a:p>
            <a:pPr>
              <a:spcAft>
                <a:spcPts val="600"/>
              </a:spcAft>
              <a:defRPr sz="1400">
                <a:solidFill>
                  <a:srgbClr val="FFFFFF"/>
                </a:solidFill>
              </a:defRPr>
            </a:pPr>
            <a:r>
              <a:t>  3 COBOL files -&gt; 3 Node.js modules</a:t>
            </a:r>
          </a:p>
          <a:p>
            <a:pPr>
              <a:spcAft>
                <a:spcPts val="600"/>
              </a:spcAft>
              <a:defRPr sz="1400">
                <a:solidFill>
                  <a:srgbClr val="FFFFFF"/>
                </a:solidFill>
              </a:defRPr>
            </a:pPr>
            <a:r>
              <a:t>  26 passing tests (unit + integration)</a:t>
            </a:r>
          </a:p>
          <a:p>
            <a:pPr>
              <a:spcAft>
                <a:spcPts val="600"/>
              </a:spcAft>
              <a:defRPr sz="1400">
                <a:solidFill>
                  <a:srgbClr val="FFFFFF"/>
                </a:solidFill>
              </a:defRPr>
            </a:pPr>
            <a:r>
              <a:t>  100% coverage on business logic</a:t>
            </a:r>
          </a:p>
          <a:p>
            <a:pPr>
              <a:spcAft>
                <a:spcPts val="600"/>
              </a:spcAft>
              <a:defRPr sz="1400">
                <a:solidFill>
                  <a:srgbClr val="FFFFFF"/>
                </a:solidFill>
              </a:defRPr>
            </a:pPr>
            <a:r>
              <a:t>  Docker containerized deployment</a:t>
            </a:r>
          </a:p>
          <a:p>
            <a:pPr>
              <a:spcAft>
                <a:spcPts val="600"/>
              </a:spcAft>
              <a:defRPr sz="1400">
                <a:solidFill>
                  <a:srgbClr val="FFFFFF"/>
                </a:solidFill>
              </a:defRPr>
            </a:pPr>
            <a:r>
              <a:t>  CI/CD pipeline with GitHub Actions</a:t>
            </a:r>
          </a:p>
          <a:p>
            <a:pPr>
              <a:spcAft>
                <a:spcPts val="600"/>
              </a:spcAft>
              <a:defRPr sz="1400">
                <a:solidFill>
                  <a:srgbClr val="FFFFFF"/>
                </a:solidFill>
              </a:defRPr>
            </a:pPr>
            <a:r>
              <a:t>  Full documentation suite</a:t>
            </a:r>
          </a:p>
        </p:txBody>
      </p:sp>
      <p:sp>
        <p:nvSpPr>
          <p:cNvPr id="4" name="TextBox 3"/>
          <p:cNvSpPr txBox="1"/>
          <p:nvPr/>
        </p:nvSpPr>
        <p:spPr>
          <a:xfrm>
            <a:off x="4754880" y="1188720"/>
            <a:ext cx="4114800" cy="3657600"/>
          </a:xfrm>
          <a:prstGeom prst="rect">
            <a:avLst/>
          </a:prstGeom>
          <a:noFill/>
        </p:spPr>
        <p:txBody>
          <a:bodyPr wrap="square">
            <a:spAutoFit/>
          </a:bodyPr>
          <a:lstStyle/>
          <a:p>
            <a:pPr>
              <a:spcAft>
                <a:spcPts val="800"/>
              </a:spcAft>
              <a:defRPr sz="1800" b="1">
                <a:solidFill>
                  <a:srgbClr val="F39C12"/>
                </a:solidFill>
              </a:defRPr>
            </a:pPr>
            <a:r>
              <a:t>Next Steps:</a:t>
            </a:r>
          </a:p>
          <a:p>
            <a:pPr>
              <a:spcAft>
                <a:spcPts val="600"/>
              </a:spcAft>
              <a:defRPr sz="1400">
                <a:solidFill>
                  <a:srgbClr val="FFFFFF"/>
                </a:solidFill>
              </a:defRPr>
            </a:pPr>
            <a:r>
              <a:t>  Add REST API layer (Express.js)</a:t>
            </a:r>
          </a:p>
          <a:p>
            <a:pPr>
              <a:spcAft>
                <a:spcPts val="600"/>
              </a:spcAft>
              <a:defRPr sz="1400">
                <a:solidFill>
                  <a:srgbClr val="FFFFFF"/>
                </a:solidFill>
              </a:defRPr>
            </a:pPr>
            <a:r>
              <a:t>  Replace in-memory with PostgreSQL</a:t>
            </a:r>
          </a:p>
          <a:p>
            <a:pPr>
              <a:spcAft>
                <a:spcPts val="600"/>
              </a:spcAft>
              <a:defRPr sz="1400">
                <a:solidFill>
                  <a:srgbClr val="FFFFFF"/>
                </a:solidFill>
              </a:defRPr>
            </a:pPr>
            <a:r>
              <a:t>  Add authentication &amp; authorization</a:t>
            </a:r>
          </a:p>
          <a:p>
            <a:pPr>
              <a:spcAft>
                <a:spcPts val="600"/>
              </a:spcAft>
              <a:defRPr sz="1400">
                <a:solidFill>
                  <a:srgbClr val="FFFFFF"/>
                </a:solidFill>
              </a:defRPr>
            </a:pPr>
            <a:r>
              <a:t>  Implement transaction history/audit</a:t>
            </a:r>
          </a:p>
          <a:p>
            <a:pPr>
              <a:spcAft>
                <a:spcPts val="600"/>
              </a:spcAft>
              <a:defRPr sz="1400">
                <a:solidFill>
                  <a:srgbClr val="FFFFFF"/>
                </a:solidFill>
              </a:defRPr>
            </a:pPr>
            <a:r>
              <a:t>  Add monitoring &amp; alerting</a:t>
            </a:r>
          </a:p>
          <a:p>
            <a:pPr>
              <a:spcAft>
                <a:spcPts val="600"/>
              </a:spcAft>
              <a:defRPr sz="1400">
                <a:solidFill>
                  <a:srgbClr val="FFFFFF"/>
                </a:solidFill>
              </a:defRPr>
            </a:pPr>
            <a:r>
              <a:t>  Performance benchmarking vs COBOL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