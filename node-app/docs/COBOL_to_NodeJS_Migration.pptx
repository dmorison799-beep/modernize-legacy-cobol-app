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6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COBOL to Node.js Modernization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A90D9"/>
                </a:solidFill>
              </a:defRPr>
            </a:pPr>
            <a:r>
              <a:t>Account Management System - Legacy Modernization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5A5A6"/>
                </a:solidFill>
              </a:defRPr>
            </a:pPr>
            <a:r>
              <a:t>Modernization Pipeline | From Mainframe to Cloud-Native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C3E50"/>
                </a:solidFill>
              </a:defRPr>
            </a:pPr>
            <a:r>
              <a:t>1.  Legacy System Overview</a:t>
            </a:r>
          </a:p>
          <a:p>
            <a:pPr>
              <a:spcAft>
                <a:spcPts val="1200"/>
              </a:spcAft>
              <a:defRPr sz="2000">
                <a:solidFill>
                  <a:srgbClr val="2C3E50"/>
                </a:solidFill>
              </a:defRPr>
            </a:pPr>
            <a:r>
              <a:t>2.  Modernization Strategy</a:t>
            </a:r>
          </a:p>
          <a:p>
            <a:pPr>
              <a:spcAft>
                <a:spcPts val="1200"/>
              </a:spcAft>
              <a:defRPr sz="2000">
                <a:solidFill>
                  <a:srgbClr val="2C3E50"/>
                </a:solidFill>
              </a:defRPr>
            </a:pPr>
            <a:r>
              <a:t>3.  Architecture Mapping (COBOL → Node.js)</a:t>
            </a:r>
          </a:p>
          <a:p>
            <a:pPr>
              <a:spcAft>
                <a:spcPts val="1200"/>
              </a:spcAft>
              <a:defRPr sz="2000">
                <a:solidFill>
                  <a:srgbClr val="2C3E50"/>
                </a:solidFill>
              </a:defRPr>
            </a:pPr>
            <a:r>
              <a:t>4.  Code Conversion Details</a:t>
            </a:r>
          </a:p>
          <a:p>
            <a:pPr>
              <a:spcAft>
                <a:spcPts val="1200"/>
              </a:spcAft>
              <a:defRPr sz="2000">
                <a:solidFill>
                  <a:srgbClr val="2C3E50"/>
                </a:solidFill>
              </a:defRPr>
            </a:pPr>
            <a:r>
              <a:t>5.  Testing Strategy</a:t>
            </a:r>
          </a:p>
          <a:p>
            <a:pPr>
              <a:spcAft>
                <a:spcPts val="1200"/>
              </a:spcAft>
              <a:defRPr sz="2000">
                <a:solidFill>
                  <a:srgbClr val="2C3E50"/>
                </a:solidFill>
              </a:defRPr>
            </a:pPr>
            <a:r>
              <a:t>6.  Deployment Pipeline</a:t>
            </a:r>
          </a:p>
          <a:p>
            <a:pPr>
              <a:spcAft>
                <a:spcPts val="1200"/>
              </a:spcAft>
              <a:defRPr sz="2000">
                <a:solidFill>
                  <a:srgbClr val="2C3E50"/>
                </a:solidFill>
              </a:defRPr>
            </a:pPr>
            <a:r>
              <a:t>7.  Key Decisions &amp; Trade-offs</a:t>
            </a:r>
          </a:p>
          <a:p>
            <a:pPr>
              <a:spcAft>
                <a:spcPts val="1200"/>
              </a:spcAft>
              <a:defRPr sz="2000">
                <a:solidFill>
                  <a:srgbClr val="2C3E50"/>
                </a:solidFill>
              </a:defRPr>
            </a:pPr>
            <a:r>
              <a:t>8.  Results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Legacy System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90D9"/>
                </a:solidFill>
              </a:defRPr>
            </a:pPr>
            <a:r>
              <a:t>COBOL Accounting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</a:defRPr>
            </a:pPr>
            <a:r>
              <a:t>Three-module COBOL application with terminal-based UI: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7772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C3E50"/>
                </a:solidFill>
              </a:defRPr>
            </a:pPr>
            <a:r>
              <a:t>main.cob — User interface: menu-driven loop with EVALUATE/WHEN branching</a:t>
            </a:r>
          </a:p>
          <a:p>
            <a:pPr>
              <a:spcAft>
                <a:spcPts val="1400"/>
              </a:spcAft>
              <a:defRPr sz="1600">
                <a:solidFill>
                  <a:srgbClr val="2C3E50"/>
                </a:solidFill>
              </a:defRPr>
            </a:pPr>
            <a:r>
              <a:t>operations.cob — Business logic: CREDIT, DEBIT, TOTAL operations via CALL linkage</a:t>
            </a:r>
          </a:p>
          <a:p>
            <a:pPr>
              <a:spcAft>
                <a:spcPts val="1400"/>
              </a:spcAft>
              <a:defRPr sz="1600">
                <a:solidFill>
                  <a:srgbClr val="2C3E50"/>
                </a:solidFill>
              </a:defRPr>
            </a:pPr>
            <a:r>
              <a:t>data.cob — Persistence: READ/WRITE on STORAGE-BALANCE (PIC 9(6)V99, init 1000.00)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65F"/>
                </a:solidFill>
              </a:defRPr>
            </a:pPr>
            <a:r>
              <a:t>Key COBOL Characteristics: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7772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Fixed-point arithmetic: PIC 9(6)V99 (6 integer digits, 2 decimal)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Synchronous terminal I/O: DISPLAY / ACCEPT statements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Inter-program communication: CALL ... USING with LINKAGE SECTION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State management: WORKING-STORAGE persists across CALL invocations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Flow control: CONTINUE-FLAG drives main loop; GOBACK returns from subprograms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Modernization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</a:defRPr>
            </a:pPr>
            <a:r>
              <a:t>Approach: 1:1 Module Migration with Behavioral Parity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7772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2C3E50"/>
                </a:solidFill>
              </a:defRPr>
            </a:pPr>
            <a:r>
              <a:t>Preserve modular boundaries — each .cob file becomes one .js module</a:t>
            </a:r>
          </a:p>
          <a:p>
            <a:pPr>
              <a:spcAft>
                <a:spcPts val="1000"/>
              </a:spcAft>
              <a:defRPr sz="1600">
                <a:solidFill>
                  <a:srgbClr val="2C3E50"/>
                </a:solidFill>
              </a:defRPr>
            </a:pPr>
            <a:r>
              <a:t>Maintain exact business logic — same inputs produce same outputs</a:t>
            </a:r>
          </a:p>
          <a:p>
            <a:pPr>
              <a:spcAft>
                <a:spcPts val="1000"/>
              </a:spcAft>
              <a:defRPr sz="1600">
                <a:solidFill>
                  <a:srgbClr val="2C3E50"/>
                </a:solidFill>
              </a:defRPr>
            </a:pPr>
            <a:r>
              <a:t>Match COBOL fixed-point precision — Math.round(x * 100) / 100</a:t>
            </a:r>
          </a:p>
          <a:p>
            <a:pPr>
              <a:spcAft>
                <a:spcPts val="1000"/>
              </a:spcAft>
              <a:defRPr sz="1600">
                <a:solidFill>
                  <a:srgbClr val="2C3E50"/>
                </a:solidFill>
              </a:defRPr>
            </a:pPr>
            <a:r>
              <a:t>Keep synchronous UX — readline-sync mirrors ACCEPT/DISPLAY flow</a:t>
            </a:r>
          </a:p>
          <a:p>
            <a:pPr>
              <a:spcAft>
                <a:spcPts val="1000"/>
              </a:spcAft>
              <a:defRPr sz="1600">
                <a:solidFill>
                  <a:srgbClr val="2C3E50"/>
                </a:solidFill>
              </a:defRPr>
            </a:pPr>
            <a:r>
              <a:t>Add testability — functions return result objects instead of printing directly</a:t>
            </a:r>
          </a:p>
          <a:p>
            <a:pPr>
              <a:spcAft>
                <a:spcPts val="1000"/>
              </a:spcAft>
              <a:defRPr sz="1600">
                <a:solidFill>
                  <a:srgbClr val="2C3E50"/>
                </a:solidFill>
              </a:defRPr>
            </a:pPr>
            <a:r>
              <a:t>Containerize for deployment — Docker multi-stage build with Alpine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</a:defRPr>
            </a:pPr>
            <a:r>
              <a:t>Why Not a Full Re-architecture?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4632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Minimizes risk: behavior is provably identical to the COBOL original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Enables incremental enhancement: once migrated, modules can evolve independently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Validates with existing test plan: TESTPLAN.md cases map directly to Jest tests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Architecture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90D9"/>
                </a:solidFill>
              </a:defRPr>
            </a:pPr>
            <a:r>
              <a:t>COBOL → Node.js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65F"/>
                </a:solidFill>
              </a:defRPr>
            </a:pPr>
            <a:r>
              <a:t>Module-by-Module Conversion: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8229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COBOL File</a:t>
                      </a:r>
                    </a:p>
                  </a:txBody>
                  <a:tcPr>
                    <a:solidFill>
                      <a:srgbClr val="1B36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Node.js Module</a:t>
                      </a:r>
                    </a:p>
                  </a:txBody>
                  <a:tcPr>
                    <a:solidFill>
                      <a:srgbClr val="1B36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COBOL Pattern</a:t>
                      </a:r>
                    </a:p>
                  </a:txBody>
                  <a:tcPr>
                    <a:solidFill>
                      <a:srgbClr val="1B36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Node.js Pattern</a:t>
                      </a:r>
                    </a:p>
                  </a:txBody>
                  <a:tcPr>
                    <a:solidFill>
                      <a:srgbClr val="1B36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main.cob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src/main.js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EVALUATE/WHEN + 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switch/case + require()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operations.cob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src/operations.js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LINKAGE SECTION + 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function params + Math.round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data.cob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src/data.js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WORKING-STORAGE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module-scoped variable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65F"/>
                </a:solidFill>
              </a:defRPr>
            </a:pPr>
            <a:r>
              <a:t>Data Flow: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97680"/>
            <a:ext cx="7772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User Input → main.js → operations.js → data.js → (in-memory store)</a:t>
            </a:r>
            <a:br/>
            <a:r>
              <a:t>     ↑                                           |</a:t>
            </a:r>
            <a:br/>
            <a:r>
              <a:t>     └───────────── response ────────────┘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Code Conversion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90D9"/>
                </a:solidFill>
              </a:defRPr>
            </a:pPr>
            <a:r>
              <a:t>Side-by-Side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801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</a:defRPr>
            </a:pPr>
            <a:r>
              <a:t>COBOL (operations.cob)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73736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</a:defRPr>
            </a:pPr>
            <a:r>
              <a:t>IF OPERATION-TYPE = 'DEBIT '</a:t>
            </a:r>
            <a:br/>
            <a:r>
              <a:t>    ACCEPT AMOUNT</a:t>
            </a:r>
            <a:br/>
            <a:r>
              <a:t>    CALL 'DataProgram' USING</a:t>
            </a:r>
            <a:br/>
            <a:r>
              <a:t>        'READ', FINAL-BALANCE</a:t>
            </a:r>
            <a:br/>
            <a:r>
              <a:t>    IF FINAL-BALANCE &gt;= AMOUNT</a:t>
            </a:r>
            <a:br/>
            <a:r>
              <a:t>        SUBTRACT AMOUNT FROM</a:t>
            </a:r>
            <a:br/>
            <a:r>
              <a:t>            FINAL-BALANCE</a:t>
            </a:r>
            <a:br/>
            <a:r>
              <a:t>        CALL 'DataProgram' USING</a:t>
            </a:r>
            <a:br/>
            <a:r>
              <a:t>            'WRITE', FINAL-BALANCE</a:t>
            </a:r>
            <a:br/>
            <a:r>
              <a:t>    ELSE</a:t>
            </a:r>
            <a:br/>
            <a:r>
              <a:t>        DISPLAY "Insufficient funds"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2801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</a:defRPr>
            </a:pPr>
            <a:r>
              <a:t>Node.js (operations.js)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73736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</a:defRPr>
            </a:pPr>
            <a:r>
              <a:t>function debitAccount(amount) {</a:t>
            </a:r>
            <a:br/>
            <a:r>
              <a:t>  const debitAmt =</a:t>
            </a:r>
            <a:br/>
            <a:r>
              <a:t>    Math.round(amount * 100) / 100;</a:t>
            </a:r>
            <a:br/>
            <a:r>
              <a:t>  let balance =</a:t>
            </a:r>
            <a:br/>
            <a:r>
              <a:t>    data.readBalance();</a:t>
            </a:r>
            <a:br/>
            <a:br/>
            <a:r>
              <a:t>  if (balance &gt;= debitAmt) {</a:t>
            </a:r>
            <a:br/>
            <a:r>
              <a:t>    balance = Math.round(</a:t>
            </a:r>
            <a:br/>
            <a:r>
              <a:t>      (balance - debitAmt) * 100</a:t>
            </a:r>
            <a:br/>
            <a:r>
              <a:t>    ) / 100;</a:t>
            </a:r>
            <a:br/>
            <a:r>
              <a:t>    data.writeBalance(balance);</a:t>
            </a:r>
            <a:br/>
            <a:r>
              <a:t>    return { success: true,</a:t>
            </a:r>
            <a:br/>
            <a:r>
              <a:t>      balance, message: ... };</a:t>
            </a:r>
            <a:br/>
            <a:r>
              <a:t>  }</a:t>
            </a:r>
            <a:br/>
            <a:r>
              <a:t>  return { success: false,</a:t>
            </a:r>
            <a:br/>
            <a:r>
              <a:t>    message: "Insufficient..." };</a:t>
            </a:r>
            <a:br/>
            <a: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53035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365F"/>
                </a:solidFill>
              </a:defRPr>
            </a:pPr>
            <a:r>
              <a:t>Key Conversions:  CALL → require() | PIC 9(6)V99 → Math.round() | ACCEPT → readline-sync | GOBACK → return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Testing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90D9"/>
                </a:solidFill>
              </a:defRPr>
            </a:pPr>
            <a:r>
              <a:t>Jest Test Suite with Full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</a:defRPr>
            </a:pPr>
            <a:r>
              <a:t>26 tests covering all TESTPLAN.md scenarios: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8229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572000"/>
                <a:gridCol w="22860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Test Case</a:t>
                      </a:r>
                    </a:p>
                  </a:txBody>
                  <a:tcPr>
                    <a:solidFill>
                      <a:srgbClr val="1B36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B36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B36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TC-1.1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View current balance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Unit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TC-2.1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Credit account with valid amount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Unit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TC-2.2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Credit account with zero amount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Unit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TC-3.1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Debit account with valid amount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Unit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TC-3.2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Debit with amount &gt; balance (insufficient funds)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Unit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TC-3.3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Debit account with zero amount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Unit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TC-4.1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Full workflow: view → credit → debit → 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Integration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029200"/>
            <a:ext cx="7772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Additional integration tests: multi-operation sequences, drain-to-zero, credit-after-drain, data persistence, floating-point edge cases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Deployment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90D9"/>
                </a:solidFill>
              </a:defRPr>
            </a:pPr>
            <a:r>
              <a:t>scripts/deploy.sh + Docker + GitHub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65F"/>
                </a:solidFill>
              </a:defRPr>
            </a:pPr>
            <a:r>
              <a:t>deploy.sh Lifecycle (7 steps):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7772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1. Validate environment — Node 18+, npm, Docker (staging/prod)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2. Install dependencies — npm ci (production-only for prod)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3. Run linter — ESLint on src/ and tests/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4. Run tests — Jest with coverage reporting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5. Build Docker image — Multi-stage Alpine, non-root user, health check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6. Push to registry — Production only (requires DOCKER_REGISTRY env var)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7. Deploy — Development: local | Staging: Docker container | Production: manual approval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65F"/>
                </a:solidFill>
              </a:defRPr>
            </a:pPr>
            <a:r>
              <a:t>CI/CD (GitHub Actions):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7772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Triggers: push/PR to main (node-app/ changes only)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Matrix: Node.js 18 and 20 in parallel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Jobs: lint → test (with coverage upload) → Docker build verification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65F"/>
                </a:solidFill>
              </a:defRPr>
            </a:pPr>
            <a:r>
              <a:t>Usage: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./scripts/deploy.sh development    # Local Node.js</a:t>
            </a:r>
            <a:br/>
            <a:r>
              <a:t>./scripts/deploy.sh staging         # Docker container</a:t>
            </a:r>
            <a:br/>
            <a:r>
              <a:t>./scripts/deploy.sh production      # Registry push + manual deploy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Key Decisions &amp; 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</a:defRPr>
            </a:pPr>
            <a:r>
              <a:t>readline-sync (synchronous I/O)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</a:defRPr>
            </a:pPr>
            <a:r>
              <a:t>Matches COBOL behavior exactly. Trade-off: blocks event loop, but acceptable for a CLI tool. Future: could migrate to async readline for server 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402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</a:defRPr>
            </a:pPr>
            <a:r>
              <a:t>Math.round() for fixed-point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</a:defRPr>
            </a:pPr>
            <a:r>
              <a:t>Replicates PIC 9(6)V99 precision. Avoids floating-point drift (e.g., 0.1+0.2). Trade-off: not true decimal; for financial-grade apps, consider decimal.js.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</a:defRPr>
            </a:pPr>
            <a:r>
              <a:t>In-memory storage (no database)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2044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</a:defRPr>
            </a:pPr>
            <a:r>
              <a:t>Mirrors COBOL WORKING-STORAGE. Trade-off: no persistence across restarts. Future: plug in SQLite/PostgreSQL behind data.js interface.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</a:defRPr>
            </a:pPr>
            <a:r>
              <a:t>Result objects over direct I/O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0559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</a:defRPr>
            </a:pPr>
            <a:r>
              <a:t>Functions return { balance, message } instead of calling console.log. Enables unit testing without mocking. CLI layer handles all display.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0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</a:defRPr>
            </a:pPr>
            <a:r>
              <a:t>Docker multi-stage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40679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</a:defRPr>
            </a:pPr>
            <a:r>
              <a:t>Separates build (npm ci) from runtime. Production image: ~50MB Alpine with non-root user and health check. No dev dependencies in final image.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Results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7AE60"/>
                </a:solidFill>
              </a:defRPr>
            </a:pPr>
            <a:r>
              <a:t>Migration Results: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7772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2C3E50"/>
                </a:solidFill>
              </a:defRPr>
            </a:pPr>
            <a:r>
              <a:t>3 COBOL files → 3 Node.js modules (1:1 mapping)</a:t>
            </a:r>
          </a:p>
          <a:p>
            <a:pPr>
              <a:spcAft>
                <a:spcPts val="1000"/>
              </a:spcAft>
              <a:defRPr sz="1600">
                <a:solidFill>
                  <a:srgbClr val="2C3E50"/>
                </a:solidFill>
              </a:defRPr>
            </a:pPr>
            <a:r>
              <a:t>26 passing tests (unit + integration) with coverage reporting</a:t>
            </a:r>
          </a:p>
          <a:p>
            <a:pPr>
              <a:spcAft>
                <a:spcPts val="1000"/>
              </a:spcAft>
              <a:defRPr sz="1600">
                <a:solidFill>
                  <a:srgbClr val="2C3E50"/>
                </a:solidFill>
              </a:defRPr>
            </a:pPr>
            <a:r>
              <a:t>Full deployment pipeline: dev / staging / production</a:t>
            </a:r>
          </a:p>
          <a:p>
            <a:pPr>
              <a:spcAft>
                <a:spcPts val="1000"/>
              </a:spcAft>
              <a:defRPr sz="1600">
                <a:solidFill>
                  <a:srgbClr val="2C3E50"/>
                </a:solidFill>
              </a:defRPr>
            </a:pPr>
            <a:r>
              <a:t>Containerized with Docker (multi-stage Alpine, non-root)</a:t>
            </a:r>
          </a:p>
          <a:p>
            <a:pPr>
              <a:spcAft>
                <a:spcPts val="1000"/>
              </a:spcAft>
              <a:defRPr sz="1600">
                <a:solidFill>
                  <a:srgbClr val="2C3E50"/>
                </a:solidFill>
              </a:defRPr>
            </a:pPr>
            <a:r>
              <a:t>CI/CD via GitHub Actions (Node 18/20 matrix)</a:t>
            </a:r>
          </a:p>
          <a:p>
            <a:pPr>
              <a:spcAft>
                <a:spcPts val="1000"/>
              </a:spcAft>
              <a:defRPr sz="1600">
                <a:solidFill>
                  <a:srgbClr val="2C3E50"/>
                </a:solidFill>
              </a:defRPr>
            </a:pPr>
            <a:r>
              <a:t>Complete documentation: README, ARCHITECTURE.md, TESTPLAN.md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39C12"/>
                </a:solidFill>
              </a:defRPr>
            </a:pPr>
            <a:r>
              <a:t>Recommended Next Steps: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7772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2C3E50"/>
                </a:solidFill>
              </a:defRPr>
            </a:pPr>
            <a:r>
              <a:t>Add persistent storage (SQLite/PostgreSQL) behind data.js interface</a:t>
            </a:r>
          </a:p>
          <a:p>
            <a:pPr>
              <a:spcAft>
                <a:spcPts val="1000"/>
              </a:spcAft>
              <a:defRPr sz="1600">
                <a:solidFill>
                  <a:srgbClr val="2C3E50"/>
                </a:solidFill>
              </a:defRPr>
            </a:pPr>
            <a:r>
              <a:t>Build REST API layer for web/mobile access</a:t>
            </a:r>
          </a:p>
          <a:p>
            <a:pPr>
              <a:spcAft>
                <a:spcPts val="1000"/>
              </a:spcAft>
              <a:defRPr sz="1600">
                <a:solidFill>
                  <a:srgbClr val="2C3E50"/>
                </a:solidFill>
              </a:defRPr>
            </a:pPr>
            <a:r>
              <a:t>Add authentication and multi-account support</a:t>
            </a:r>
          </a:p>
          <a:p>
            <a:pPr>
              <a:spcAft>
                <a:spcPts val="1000"/>
              </a:spcAft>
              <a:defRPr sz="1600">
                <a:solidFill>
                  <a:srgbClr val="2C3E50"/>
                </a:solidFill>
              </a:defRPr>
            </a:pPr>
            <a:r>
              <a:t>Migrate to async I/O for server deployment</a:t>
            </a:r>
          </a:p>
          <a:p>
            <a:pPr>
              <a:spcAft>
                <a:spcPts val="1000"/>
              </a:spcAft>
              <a:defRPr sz="1600">
                <a:solidFill>
                  <a:srgbClr val="2C3E50"/>
                </a:solidFill>
              </a:defRPr>
            </a:pPr>
            <a:r>
              <a:t>Set up monitoring and alerting (health checks already in Dockerfile)</a:t>
            </a:r>
          </a:p>
          <a:p>
            <a:pPr>
              <a:spcAft>
                <a:spcPts val="1000"/>
              </a:spcAft>
              <a:defRPr sz="1600">
                <a:solidFill>
                  <a:srgbClr val="2C3E50"/>
                </a:solidFill>
              </a:defRPr>
            </a:pPr>
            <a:r>
              <a:t>Performance benchmarking: COBOL vs Node.js throughput comparison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